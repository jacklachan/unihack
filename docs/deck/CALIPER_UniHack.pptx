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CALIPER. The name is the thesis: a caliper is a measuring instrument, and every number in this deck was produced by a run rather than typed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obvious approach is to hand the row to a language model and hope. The brief tells you exactly why that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is never allowed to write an output cell. It proposes facts that must quote the source, or renders verdicts on facts that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Finding 2 is the important one. It sets an honest ceiling on attribute accuracy without retrieval.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Invoice compliance is 100% because it is solved as a budget problem rather than asked of a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counterweight to the small ground truth, and it immediately found a real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here loads from the shipped files on a fresh clone. The evidence panel does not need a live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not defended against with a checker; it is made structurally impossible for the output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the ceiling is stronger than hiding it, and finding 2 proves where it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thesis: the differentiator is not that we enrich, it is that we can say which rows are safe to publish unattended, and show the evidence for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98A34"/>
                </a:solidFill>
                <a:latin typeface="Courier New"/>
              </a:rPr>
              <a:t>UniHack  ·  AI-Powered Product Intelligence for Industrial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716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 spc="400">
                <a:solidFill>
                  <a:srgbClr val="FFFFFF"/>
                </a:solidFill>
                <a:latin typeface="Cambria"/>
              </a:rPr>
              <a:t>CALI</a:t>
            </a:r>
            <a:r>
              <a:rPr sz="7200" b="1" i="0" spc="400">
                <a:solidFill>
                  <a:srgbClr val="B98A34"/>
                </a:solidFill>
                <a:latin typeface="Cambria"/>
              </a:rPr>
              <a:t>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926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6CEDC"/>
                </a:solidFill>
                <a:latin typeface="Calibri"/>
              </a:rPr>
              <a:t>An enrichment pipeline that measures what it claims,</a:t>
            </a:r>
          </a:p>
          <a:p>
            <a:pPr algn="l">
              <a:lnSpc>
                <a:spcPts val="2700"/>
              </a:lnSpc>
            </a:pPr>
            <a:r>
              <a:rPr sz="1800" b="0" i="0">
                <a:solidFill>
                  <a:srgbClr val="C6CEDC"/>
                </a:solidFill>
                <a:latin typeface="Calibri"/>
              </a:rPr>
              <a:t>and refuses to write what it cannot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ROWS IN 9S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9856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252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COLUMNS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26,627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1344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TRACEABLE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2832" y="47091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98A34"/>
                </a:solidFill>
                <a:latin typeface="Courier New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5303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8592A6"/>
                </a:solidFill>
                <a:latin typeface="Calibri"/>
              </a:rPr>
              <a:t>TESTS PASSING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Six columns in. Two hundred and fifty-two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One real row from the working dataset. Three of its five fields are placeholders that mean “empty”.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240280"/>
            <a:ext cx="5760720" cy="1874519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23160"/>
            <a:ext cx="5321808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D8DEEA"/>
                </a:solidFill>
                <a:latin typeface="Courier New"/>
              </a:rPr>
              <a:t>Mfg_Part_Num : 49-94-1940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FFFFFF"/>
                </a:solidFill>
                <a:latin typeface="Courier New"/>
              </a:rPr>
              <a:t>Part_Desc    : 49-94-1940 Milw 14"x1/8"x1"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FFFFFF"/>
                </a:solidFill>
                <a:latin typeface="Courier New"/>
              </a:rPr>
              <a:t>               Masonry Cut Off Disc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6E7A92"/>
                </a:solidFill>
                <a:latin typeface="Courier New"/>
              </a:rPr>
              <a:t>E1_Brand     : -- Unbranded --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6E7A92"/>
                </a:solidFill>
                <a:latin typeface="Courier New"/>
              </a:rPr>
              <a:t>DIB_Brand    : -- No DIB Brand --</a:t>
            </a:r>
          </a:p>
          <a:p>
            <a:pPr algn="l">
              <a:lnSpc>
                <a:spcPts val="1700"/>
              </a:lnSpc>
            </a:pPr>
            <a:r>
              <a:rPr sz="1150" b="0" i="0">
                <a:solidFill>
                  <a:srgbClr val="D8DEEA"/>
                </a:solidFill>
                <a:latin typeface="Courier New"/>
              </a:rPr>
              <a:t>Part_Manuf   : Milwaukee Accessory (4031)</a:t>
            </a:r>
          </a:p>
        </p:txBody>
      </p:sp>
      <p:sp>
        <p:nvSpPr>
          <p:cNvPr id="7" name="Oval 6"/>
          <p:cNvSpPr/>
          <p:nvPr/>
        </p:nvSpPr>
        <p:spPr>
          <a:xfrm>
            <a:off x="6720840" y="2258568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6328" y="22219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An approved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6328" y="24780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exact casing, with the ® symbol</a:t>
            </a:r>
          </a:p>
        </p:txBody>
      </p:sp>
      <p:sp>
        <p:nvSpPr>
          <p:cNvPr id="10" name="Oval 9"/>
          <p:cNvSpPr/>
          <p:nvPr/>
        </p:nvSpPr>
        <p:spPr>
          <a:xfrm>
            <a:off x="6720840" y="2843784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6328" y="2807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A classpath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96328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the key every attribute is validated against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3429000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6328" y="339242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Five descriptions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96328" y="3648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five different length and casing rules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01421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96328" y="39776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Ordered attributes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96328" y="42336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488"/>
                </a:solidFill>
                <a:latin typeface="Calibri"/>
              </a:rPr>
              <a:t>drawn from a controlled vocabulary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526280"/>
            <a:ext cx="10874959" cy="713232"/>
          </a:xfrm>
          <a:prstGeom prst="rect">
            <a:avLst/>
          </a:prstGeom>
          <a:solidFill>
            <a:srgbClr val="F7ECE6"/>
          </a:solidFill>
          <a:ln w="12700">
            <a:solidFill>
              <a:srgbClr val="9A43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9A431F"/>
                </a:solidFill>
                <a:latin typeface="Calibri"/>
              </a:rPr>
              <a:t>The brief is blunt about the obvious approach: “a fluent description made of invented values scores zero.”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Sample-1000_Items · one row, unedited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Facts before prose.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Every extractor writes into one structure. Nothing downstream may invent a value — it can only render facts that already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194560"/>
            <a:ext cx="6766560" cy="2651760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377440"/>
            <a:ext cx="6327648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B98A34"/>
                </a:solidFill>
                <a:latin typeface="Courier New"/>
              </a:rPr>
              <a:t>brand         Milwaukee®             IDN-BRD-01  0.88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manufacturer  Milwaukee Tool         IDN-MFR-01  0.86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dimensions    14 in x 1/8 in x 1 in  DIM-CHN-01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diameter      14 in 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thickness     1/8 in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arbor_size    1 in                   DIM-CHN-02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D8DEEA"/>
                </a:solidFill>
                <a:latin typeface="Courier New"/>
              </a:rPr>
              <a:t>application   Masonry                APP-MAT-01  0.92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B98A34"/>
                </a:solidFill>
                <a:latin typeface="Courier New"/>
              </a:rPr>
              <a:t>item_type     Cut Off Disc           ITM-LEX-01  0.95</a:t>
            </a:r>
          </a:p>
          <a:p>
            <a:pPr algn="l">
              <a:lnSpc>
                <a:spcPts val="1600"/>
              </a:lnSpc>
            </a:pP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8FA8C4"/>
                </a:solidFill>
                <a:latin typeface="Courier New"/>
              </a:rPr>
              <a:t>→ Milwaukee® 49-94-1940 Cut Off Disc,</a:t>
            </a:r>
          </a:p>
          <a:p>
            <a:pPr algn="l">
              <a:lnSpc>
                <a:spcPts val="1600"/>
              </a:lnSpc>
            </a:pPr>
            <a:r>
              <a:rPr sz="1050" b="0" i="0">
                <a:solidFill>
                  <a:srgbClr val="8FA8C4"/>
                </a:solidFill>
                <a:latin typeface="Courier New"/>
              </a:rPr>
              <a:t>  14 in x 1/8 in x 1 in, Masonry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223113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2168" y="21945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Nothing ungrounded gets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24688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A fact without evidence is rejected at insertion. A tested invariant, not a convention.</a:t>
            </a:r>
          </a:p>
        </p:txBody>
      </p:sp>
      <p:sp>
        <p:nvSpPr>
          <p:cNvPr id="10" name="Oval 9"/>
          <p:cNvSpPr/>
          <p:nvPr/>
        </p:nvSpPr>
        <p:spPr>
          <a:xfrm>
            <a:off x="7726679" y="314553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02168" y="31089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The five descriptions agree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2168" y="33832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They are five renderings of one fact set, not five separate generations.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7726679" y="405993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2168" y="4023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Provenance is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4297680"/>
            <a:ext cx="36118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5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26,627 cells, each traceable to the rule that made it and the characters behind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2182B"/>
                </a:solidFill>
                <a:latin typeface="Calibri"/>
              </a:rPr>
              <a:t>Rules, registries, taxonomy, family consensus and the model all write facts.   Composition, validation and export only read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The one-way boundary is the entire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WHAT MEASUREMENT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Four findings that came from measuring, not reasoning.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Each one changed the build. Two contradicted decisions already made.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04288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9616" y="2468880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The answer key fills 25% of the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798064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UPC, UNSPSC, every dimension, SDS and country of origin are blank in both published rows. A pipeline filling 90% is inventing two-thirds of a catalogue.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2304288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73952" y="2487168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468880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Attribute values are not in the supplier 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95744" y="2798064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The labelled dishwasher's input is 39 characters. Eleven of its twelve attribute values appear nowhere in it — they need the manufacturer's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931920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7824" y="411480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4096511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 guardrail caught our own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425696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Four wheels reported an arbor hole wider than the disc. The dimension regex knew inches but not millimetres. Findings went 4 → 2 → 0; both defects were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3931920"/>
            <a:ext cx="532180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73952" y="411480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98A34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5744" y="4096511"/>
            <a:ext cx="42611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A bug no reading could find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4425696"/>
            <a:ext cx="4261104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</a:pPr>
            <a:r>
              <a:rPr sz="1100" b="0" i="0">
                <a:solidFill>
                  <a:srgbClr val="6B7488"/>
                </a:solidFill>
                <a:latin typeface="Calibri"/>
              </a:rPr>
              <a:t>A heredoc turned \b into a literal backspace byte inside two regexes. grep, sed and cat all showed the files as correct — terminals don't draw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A fifth killed a feature: family amortisation was estimated at 8× and measured at 1.77×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1,000 rows, nine seconds, no API key required.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7A4C"/>
                </a:solidFill>
                <a:latin typeface="Courier New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INVOICE ≤ 40 CHARS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compliant by construction, not by checking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92.5%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BRAND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to an approved name with its ® symbol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55664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88.8%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CLASSIFIED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the remainder abstain rather than guess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53728" y="22860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F7A4C"/>
                </a:solidFill>
                <a:latin typeface="Courier New"/>
              </a:rPr>
              <a:t>77.4%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29443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READY TO PUBLISH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32369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774 rows need no human at 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99.5%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SIBLING AGREEMENT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over 1,516 comparisons, 185 families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6432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57600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614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RELATIONSHIP EDGES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powers · variant_of · same_series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55664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5664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CATEGORY SPECS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induced from rows, not hand-written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3931920"/>
            <a:ext cx="26151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253728" y="4114800"/>
            <a:ext cx="221284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8A6417"/>
                </a:solidFill>
                <a:latin typeface="Courier New"/>
              </a:rPr>
              <a:t>48.0%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77316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00">
                <a:solidFill>
                  <a:srgbClr val="6B7488"/>
                </a:solidFill>
                <a:latin typeface="Calibri"/>
              </a:rPr>
              <a:t>VS. THE ANSWER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5065776"/>
            <a:ext cx="22128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on 2 labelled rows — a narrow base, stated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Every figure produced by a run and cross-checked against report.json before it was written down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ANSWERING THE OBVIOUS OBJECTION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Two labelled rows is a narrow base. Consistency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No care widens a calibration set of two — but self-consistency can be asked of all 1,000 rows: products in one family must agree about the facts they share.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560320"/>
            <a:ext cx="5852160" cy="1920240"/>
          </a:xfrm>
          <a:prstGeom prst="rect">
            <a:avLst/>
          </a:prstGeom>
          <a:solidFill>
            <a:srgbClr val="12182B"/>
          </a:solidFill>
          <a:ln w="12700">
            <a:solidFill>
              <a:srgbClr val="2A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743200"/>
            <a:ext cx="5413248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families with 2+ members  :   185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attribute comparisons     : 1,516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D8DEEA"/>
                </a:solidFill>
                <a:latin typeface="Courier New"/>
              </a:rPr>
              <a:t>siblings agree            : </a:t>
            </a:r>
            <a:r>
              <a:rPr sz="1200" b="1" i="0">
                <a:solidFill>
                  <a:srgbClr val="B98A34"/>
                </a:solidFill>
                <a:latin typeface="Courier New"/>
              </a:rPr>
              <a:t>99.5%</a:t>
            </a:r>
          </a:p>
          <a:p>
            <a:pPr algn="l">
              <a:lnSpc>
                <a:spcPts val="1800"/>
              </a:lnSpc>
            </a:pP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8FA8C4"/>
                </a:solidFill>
                <a:latin typeface="Courier New"/>
              </a:rPr>
              <a:t>brand 100%     manufacturer 100%</a:t>
            </a:r>
          </a:p>
          <a:p>
            <a:pPr algn="l">
              <a:lnSpc>
                <a:spcPts val="1800"/>
              </a:lnSpc>
            </a:pPr>
            <a:r>
              <a:rPr sz="1200" b="0" i="0">
                <a:solidFill>
                  <a:srgbClr val="8FA8C4"/>
                </a:solidFill>
                <a:latin typeface="Courier New"/>
              </a:rPr>
              <a:t>item_type 99.5%   classpath 99.4%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3720" y="2560320"/>
            <a:ext cx="4626864" cy="1920240"/>
          </a:xfrm>
          <a:prstGeom prst="rect">
            <a:avLst/>
          </a:prstGeom>
          <a:solidFill>
            <a:srgbClr val="FBF4E6"/>
          </a:solidFill>
          <a:ln w="12700">
            <a:solidFill>
              <a:srgbClr val="B98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23176" y="27432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2182B"/>
                </a:solidFill>
                <a:latin typeface="Calibri"/>
              </a:rPr>
              <a:t>It earned its place within the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3176" y="3072384"/>
            <a:ext cx="42062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4A5468"/>
                </a:solidFill>
                <a:latin typeface="Calibri"/>
              </a:rPr>
              <a:t>Brand agreement came back at 95.3%, which reads as an extraction error. It was a clustering error — every “Dishwasher SS” from one appliance co-op landed in a single family, because the brand lives in the part number, not the description.</a:t>
            </a:r>
          </a:p>
          <a:p>
            <a:pPr algn="l">
              <a:lnSpc>
                <a:spcPts val="1300"/>
              </a:lnSpc>
            </a:pPr>
          </a:p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4A5468"/>
                </a:solidFill>
                <a:latin typeface="Calibri"/>
              </a:rPr>
              <a:t>Making family membership brand-aware took brand and manufacturer to 100%.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54880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12182B"/>
                </a:solidFill>
                <a:latin typeface="Calibri"/>
              </a:rPr>
              <a:t>This is deliberately not called accuracy — a pipeline can be uniformly wrong and perfectly consistent. But an extractor that disagrees with itself across products differing only by size is certainly wrong somewhere.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A quality signal measured on the whole catalogue rather than on two 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THE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Upload a catalogue. Click any cell. See why.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A judge's own file works — column names are detected, not assumed. Proven on a test file with different headers, different order and two junk columns.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Evidence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Every value names the rule that produced it, the characters of the input that justified it, and its confidence.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9976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81144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Budget solver trace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The 40-character invoice line, showing which facts were kept, which abbreviated, which dropped.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01584" y="2450592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Findings on the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944368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Brand and manufacturer disagreeing; rows where classification refused to guess.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9536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Induced specs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64 category rulebooks derived from the rows, with a count behind every attribute.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9976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81144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Review 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1144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Ranked by uncertainty × sibling SKUs affected — the best use of the next human minute.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1584" y="3968496"/>
            <a:ext cx="3493008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302752" y="415137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6417"/>
                </a:solidFill>
                <a:latin typeface="Calibri"/>
              </a:rPr>
              <a:t>Relationship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4462272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1050" b="0" i="0">
                <a:solidFill>
                  <a:srgbClr val="6B7488"/>
                </a:solidFill>
                <a:latin typeface="Calibri"/>
              </a:rPr>
              <a:t>614 edges: which battery powers which tool, which board varies from which.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669280"/>
            <a:ext cx="1087495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488"/>
                </a:solidFill>
                <a:latin typeface="Calibri"/>
              </a:rPr>
              <a:t>Exports the 252-column delivery file as CSV and XLSX, plus the provenance ledger, review queue and relationship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python -m caliper serve  ·  no install step, no API key, runs offline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B98A34"/>
                </a:solidFill>
                <a:latin typeface="Courier New"/>
              </a:rPr>
              <a:t>WHY THIS ONE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Most pipelines generate, then check. This one cannot generate.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3969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1" i="0" spc="100">
                <a:solidFill>
                  <a:srgbClr val="6B7488"/>
                </a:solidFill>
                <a:latin typeface="Calibri"/>
              </a:rPr>
              <a:t>The usual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2139696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050" b="1" i="0" spc="100">
                <a:solidFill>
                  <a:srgbClr val="8A6417"/>
                </a:solidFill>
                <a:latin typeface="Calibri"/>
              </a:rPr>
              <a:t>CALIPER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706623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798063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Model writes the cell; a validator checks it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798063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Model may only propose a fact that quotes the source — composition renders, it cannot invent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64991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45643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A confidence score invented per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56432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Confidence rises from independent methods agreeing, and is checked against sibling consistency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114800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Fill as much of the sheet as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Fill rate calibrated against the answer key, because over-filling is fabrication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73168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Character limits checked, sometimes missed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773168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A budget problem with abbreviation ladders — 100% compliant by 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340096"/>
            <a:ext cx="10874959" cy="9525"/>
          </a:xfrm>
          <a:prstGeom prst="rect">
            <a:avLst/>
          </a:prstGeom>
          <a:solidFill>
            <a:srgbClr val="D3D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0" i="0">
                <a:solidFill>
                  <a:srgbClr val="5A6478"/>
                </a:solidFill>
                <a:latin typeface="Calibri"/>
              </a:rPr>
              <a:t>A review queue that forgets its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431536"/>
            <a:ext cx="5577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>
                <a:solidFill>
                  <a:srgbClr val="12182B"/>
                </a:solidFill>
                <a:latin typeface="Calibri"/>
              </a:rPr>
              <a:t>Corrections persist, scoped to part / family / category / brand, and replay every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No third-party packages · CSV and XLSX read and written with the standard library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 spc="220">
                <a:solidFill>
                  <a:srgbClr val="9A431F"/>
                </a:solidFill>
                <a:latin typeface="Courier New"/>
              </a:rPr>
              <a:t>WHAT WE WOULD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3647"/>
              </a:lnSpc>
            </a:pPr>
            <a:r>
              <a:rPr sz="3200" b="1" i="0">
                <a:solidFill>
                  <a:srgbClr val="12182B"/>
                </a:solidFill>
                <a:latin typeface="Cambria"/>
              </a:rPr>
              <a:t>The honest edges.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50" b="0" i="0">
                <a:solidFill>
                  <a:srgbClr val="6B7488"/>
                </a:solidFill>
                <a:latin typeface="Calibri"/>
              </a:rPr>
              <a:t>A submission whose thesis is measurement has to report what it cannot measure.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32257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2860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Two labelled rows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22860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Every accuracy figure rests on a calibration set of two. The harness prints the sample size beside every rate and scales untouched to a larger file.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3236976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2004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 manufacturer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32004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Finding 02 shows this, not a missing rule, is the binding constraint on attribute-value accuracy.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415137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1148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No official vocabularies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41148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The LOV, the 27,000-row manufacturer master and the UOM standards were never distributed. Our registry is a ~75-entry bootstrap, and LOV coverage is measured against an induced vocabulary and labelled as such.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5065775"/>
            <a:ext cx="292608" cy="292608"/>
          </a:xfrm>
          <a:prstGeom prst="ellipse">
            <a:avLst/>
          </a:prstGeom>
          <a:solidFill>
            <a:srgbClr val="B98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182B"/>
                </a:solidFill>
                <a:latin typeface="Courier New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5029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2182B"/>
                </a:solidFill>
                <a:latin typeface="Calibri"/>
              </a:rPr>
              <a:t>Conformance is not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5029200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150" b="0" i="0">
                <a:solidFill>
                  <a:srgbClr val="6B7488"/>
                </a:solidFill>
                <a:latin typeface="Calibri"/>
              </a:rPr>
              <a:t>100% character compliance is true, and is not the same as a good line. No automated check we have closes that gap.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27648"/>
            <a:ext cx="1087495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AA3B2"/>
                </a:solidFill>
                <a:latin typeface="Calibri"/>
              </a:rPr>
              <a:t>Roadmap: manufacturer-source retrieval and document intelligence — where the remaining columns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Enrichment is table stakes.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487168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B98A34"/>
                </a:solidFill>
                <a:latin typeface="Cambria"/>
              </a:rPr>
              <a:t>Knowing which rows ship unattended —</a:t>
            </a:r>
          </a:p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B98A34"/>
                </a:solidFill>
                <a:latin typeface="Cambria"/>
              </a:rPr>
              <a:t>and being able to prove why — is the product.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4315968"/>
            <a:ext cx="10874959" cy="9525"/>
          </a:xfrm>
          <a:prstGeom prst="rect">
            <a:avLst/>
          </a:prstGeom>
          <a:solidFill>
            <a:srgbClr val="2A3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python -m caliper 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79976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79976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github.com/jacklachan/unihack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4" y="452628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 spc="120">
                <a:solidFill>
                  <a:srgbClr val="7C8798"/>
                </a:solidFill>
                <a:latin typeface="Calibri"/>
              </a:rPr>
              <a:t>WRITTEN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1584" y="4800600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docs/submission.html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5216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7C8798"/>
                </a:solidFill>
                <a:latin typeface="Calibri"/>
              </a:rPr>
              <a:t>Every number in this deck was produced by a run — then the outputs behind it were read.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