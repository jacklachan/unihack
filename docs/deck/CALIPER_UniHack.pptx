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4"/>
    <p:sldMasterId id="214748367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y="5143500" cx="9144000"/>
  <p:notesSz cx="6858000" cy="9144000"/>
  <p:embeddedFontLst>
    <p:embeddedFont>
      <p:font typeface="Google Sans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font" Target="fonts/GoogleSans-regular.fntdata"/><Relationship Id="rId23" Type="http://schemas.openxmlformats.org/officeDocument/2006/relationships/font" Target="fonts/GoogleSans-bold.fntdata"/><Relationship Id="rId24" Type="http://schemas.openxmlformats.org/officeDocument/2006/relationships/font" Target="fonts/GoogleSans-italic.fntdata"/><Relationship Id="rId25" Type="http://schemas.openxmlformats.org/officeDocument/2006/relationships/font" Target="fonts/GoogleSans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f97113ba4d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g3f97113ba4d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f97113ba4d_0_1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g3f97113ba4d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f97113ba4d_0_1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0" name="Google Shape;110;g3f97113ba4d_0_1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f971cbf117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f971cbf117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97113ba4d_0_1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2" name="Google Shape;122;g3f97113ba4d_0_1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f97113ba4d_0_1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8" name="Google Shape;128;g3f97113ba4d_0_1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f97113ba4d_0_1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" name="Google Shape;134;g3f97113ba4d_0_1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f97113ba4d_0_1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0" name="Google Shape;140;g3f97113ba4d_0_1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97113ba4d_0_1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6" name="Google Shape;146;g3f97113ba4d_0_1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f97113ba4d_0_1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2" name="Google Shape;152;g3f97113ba4d_0_1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f97113ba4d_0_1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8" name="Google Shape;158;g3f97113ba4d_0_1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f97113ba4d_0_1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4" name="Google Shape;164;g3f97113ba4d_0_1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f97113ba4d_0_1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0" name="Google Shape;170;g3f97113ba4d_0_1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f97113ba4d_0_1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6" name="Google Shape;176;g3f97113ba4d_0_1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f97113ba4d_0_1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2" name="Google Shape;182;g3f97113ba4d_0_1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6" name="Google Shape;56;p1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7" name="Google Shape;57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60" name="Google Shape;60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3" name="Google Shape;63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4" name="Google Shape;64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7" name="Google Shape;67;p17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8" name="Google Shape;68;p17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9" name="Google Shape;69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2" name="Google Shape;72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9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75" name="Google Shape;75;p19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6" name="Google Shape;76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0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79" name="Google Shape;79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21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83" name="Google Shape;83;p21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84" name="Google Shape;84;p21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85" name="Google Shape;85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2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88" name="Google Shape;88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3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1" name="Google Shape;91;p23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92" name="Google Shape;92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3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p25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25"/>
          <p:cNvSpPr txBox="1"/>
          <p:nvPr/>
        </p:nvSpPr>
        <p:spPr>
          <a:xfrm>
            <a:off x="436625" y="8810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n-GB" sz="4000" u="none" cap="none" strike="noStrike">
                <a:solidFill>
                  <a:schemeClr val="accent1"/>
                </a:solidFill>
                <a:latin typeface="Google Sans"/>
                <a:ea typeface="Google Sans"/>
                <a:cs typeface="Google Sans"/>
                <a:sym typeface="Google Sans"/>
              </a:rPr>
              <a:t>Guidelines</a:t>
            </a:r>
            <a:endParaRPr b="1" i="0" sz="4000" u="none" cap="none" strike="noStrike">
              <a:solidFill>
                <a:schemeClr val="accent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01" name="Google Shape;101;p25"/>
          <p:cNvSpPr txBox="1"/>
          <p:nvPr/>
        </p:nvSpPr>
        <p:spPr>
          <a:xfrm>
            <a:off x="609900" y="1711275"/>
            <a:ext cx="7924200" cy="198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238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Google Sans"/>
              <a:buChar char="●"/>
            </a:pPr>
            <a:r>
              <a:rPr b="0" i="0" lang="en-GB" sz="1500" u="none" cap="none" strike="noStrike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Kindly use the given template for submitting your </a:t>
            </a:r>
            <a:r>
              <a:rPr lang="en-GB" sz="1500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prototype</a:t>
            </a:r>
            <a:r>
              <a:rPr b="0" i="0" lang="en-GB" sz="1500" u="none" cap="none" strike="noStrike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(Make a copy of the template)</a:t>
            </a:r>
            <a:endParaRPr b="0" i="0" sz="1500" u="none" cap="none" strike="noStrike">
              <a:solidFill>
                <a:srgbClr val="434343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238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Google Sans"/>
              <a:buChar char="●"/>
            </a:pPr>
            <a:r>
              <a:rPr b="0" i="0" lang="en-GB" sz="1500" u="none" cap="none" strike="noStrike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One team is only required to submit one project.</a:t>
            </a:r>
            <a:endParaRPr b="0" i="0" sz="1500" u="none" cap="none" strike="noStrike">
              <a:solidFill>
                <a:srgbClr val="434343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238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Google Sans"/>
              <a:buChar char="●"/>
            </a:pPr>
            <a:r>
              <a:rPr lang="en-GB" sz="1500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Follow this template while preparing your presentation.</a:t>
            </a:r>
            <a:endParaRPr b="0" i="0" sz="1500" u="none" cap="none" strike="noStrike">
              <a:solidFill>
                <a:srgbClr val="434343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238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Google Sans"/>
              <a:buChar char="●"/>
            </a:pPr>
            <a:r>
              <a:rPr b="0" i="0" lang="en-GB" sz="1500" u="none" cap="none" strike="noStrike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You are welcome to add as many POCs and design concepts to support your project.</a:t>
            </a:r>
            <a:endParaRPr b="0" i="0" sz="1500" u="none" cap="none" strike="noStrike">
              <a:solidFill>
                <a:srgbClr val="434343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238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Google Sans"/>
              <a:buChar char="●"/>
            </a:pPr>
            <a:r>
              <a:rPr b="0" i="0" lang="en-GB" sz="1500" u="none" cap="none" strike="noStrike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The project should be feasible and the team members should be capable enough, to come up with the fully functioning prototype of the same idea, if required.</a:t>
            </a:r>
            <a:endParaRPr b="0" i="0" sz="1500" u="none" cap="none" strike="noStrike">
              <a:solidFill>
                <a:srgbClr val="434343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p26" title="Framedede 2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13"/>
            <a:ext cx="9144003" cy="5143476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6"/>
          <p:cNvSpPr txBox="1"/>
          <p:nvPr/>
        </p:nvSpPr>
        <p:spPr>
          <a:xfrm>
            <a:off x="186200" y="3221675"/>
            <a:ext cx="8760000" cy="16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Team Details</a:t>
            </a:r>
            <a:endParaRPr b="1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oogle Sans"/>
              <a:buAutoNum type="alphaLcPeriod"/>
            </a:pPr>
            <a:r>
              <a:rPr b="1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Team name:  </a:t>
            </a:r>
            <a:r>
              <a:rPr b="1" sz="1800">
                <a:solidFill>
                  <a:srgbClr val="B03021"/>
                </a:solidFill>
              </a:rPr>
              <a:t>&lt;&lt;&lt; FILL IN &gt;&gt;&gt;</a:t>
            </a:r>
            <a:endParaRPr b="1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oogle Sans"/>
              <a:buAutoNum type="alphaLcPeriod"/>
            </a:pPr>
            <a:r>
              <a:rPr b="1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Team leader name:  </a:t>
            </a:r>
            <a:r>
              <a:rPr b="1" sz="1800">
                <a:solidFill>
                  <a:srgbClr val="B03021"/>
                </a:solidFill>
              </a:rPr>
              <a:t>&lt;&lt;&lt; FILL IN &gt;&gt;&gt;</a:t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27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27"/>
          <p:cNvSpPr txBox="1"/>
          <p:nvPr/>
        </p:nvSpPr>
        <p:spPr>
          <a:xfrm>
            <a:off x="390000" y="775625"/>
            <a:ext cx="8364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Brief about your solution</a:t>
            </a:r>
            <a:endParaRPr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14" name="TextBox 113"/>
          <p:cNvSpPr txBox="1"/>
          <p:nvPr/>
        </p:nvSpPr>
        <p:spPr>
          <a:xfrm>
            <a:off x="475488" y="1444752"/>
            <a:ext cx="8193024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350" b="0">
                <a:solidFill>
                  <a:srgbClr val="1B2432"/>
                </a:solidFill>
                <a:latin typeface="Calibri"/>
              </a:rPr>
              <a:t>CALIPER turns a messy supplier row into Unilog's </a:t>
            </a:r>
            <a:r>
              <a:rPr sz="1350" b="1">
                <a:solidFill>
                  <a:srgbClr val="1B2432"/>
                </a:solidFill>
                <a:latin typeface="Calibri"/>
              </a:rPr>
              <a:t>252-column delivery format</a:t>
            </a:r>
            <a:r>
              <a:rPr sz="1350" b="0">
                <a:solidFill>
                  <a:srgbClr val="1B2432"/>
                </a:solidFill>
                <a:latin typeface="Calibri"/>
              </a:rPr>
              <a:t> — and can show you why it wrote every single cell.</a:t>
            </a:r>
          </a:p>
          <a:p>
            <a:pPr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1B2432"/>
                </a:solidFill>
                <a:latin typeface="Calibri"/>
              </a:rPr>
              <a:t>Most pipelines hand the row to a language model and validate what comes back. CALIPER makes that structurally impossible. Every extractor — rules, the brand registry, the taxonomy, family consensus and the model — writes into one typed </a:t>
            </a:r>
            <a:r>
              <a:rPr sz="1150" b="1">
                <a:solidFill>
                  <a:srgbClr val="00386F"/>
                </a:solidFill>
                <a:latin typeface="Calibri"/>
              </a:rPr>
              <a:t>Product Fact Graph, where a fact without evidence is rejected at insertion</a:t>
            </a:r>
            <a:r>
              <a:rPr sz="1150" b="0">
                <a:solidFill>
                  <a:srgbClr val="1B2432"/>
                </a:solidFill>
                <a:latin typeface="Calibri"/>
              </a:rPr>
              <a:t>. Composition, validation and export only ever read from it. The model is never permitted to write an output cell: it may propose a fact that quotes the source, or judge a fact that already exists.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75488" y="2788920"/>
            <a:ext cx="201168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 i="0">
                <a:solidFill>
                  <a:srgbClr val="0B5FA5"/>
                </a:solidFill>
                <a:latin typeface="Calibri"/>
              </a:rPr>
              <a:t>1,000 → 252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A6678"/>
                </a:solidFill>
                <a:latin typeface="Calibri"/>
              </a:rPr>
              <a:t>rows to columns, in ~3 seconds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523744" y="2788920"/>
            <a:ext cx="201168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 i="0">
                <a:solidFill>
                  <a:srgbClr val="0B5FA5"/>
                </a:solidFill>
                <a:latin typeface="Calibri"/>
              </a:rPr>
              <a:t>100%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A6678"/>
                </a:solidFill>
                <a:latin typeface="Calibri"/>
              </a:rPr>
              <a:t>INVOICE_DESC within 40 characters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572000" y="2788920"/>
            <a:ext cx="201168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 i="0">
                <a:solidFill>
                  <a:srgbClr val="0B5FA5"/>
                </a:solidFill>
                <a:latin typeface="Calibri"/>
              </a:rPr>
              <a:t>99.5%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A6678"/>
                </a:solidFill>
                <a:latin typeface="Calibri"/>
              </a:rPr>
              <a:t>sibling agreement, 1,516 comparisons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620256" y="2788920"/>
            <a:ext cx="201168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 i="0">
                <a:solidFill>
                  <a:srgbClr val="0B5FA5"/>
                </a:solidFill>
                <a:latin typeface="Calibri"/>
              </a:rPr>
              <a:t>26,596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A6678"/>
                </a:solidFill>
                <a:latin typeface="Calibri"/>
              </a:rPr>
              <a:t>cells carrying their own evidence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75488" y="3611880"/>
            <a:ext cx="8193024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00386F"/>
                </a:solidFill>
                <a:latin typeface="Calibri"/>
              </a:rPr>
              <a:t>Runs with no API key and no third-party packages. </a:t>
            </a:r>
            <a:r>
              <a:rPr sz="1150" b="0">
                <a:solidFill>
                  <a:srgbClr val="1B2432"/>
                </a:solidFill>
                <a:latin typeface="Calibri"/>
              </a:rPr>
              <a:t>A judge opens the link and 1,000 real industrial SKUs are already enriched; clicking any row reveals the rule that produced each value and the exact characters of the input that justified 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28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28"/>
          <p:cNvSpPr txBox="1"/>
          <p:nvPr>
            <p:ph type="ctrTitle"/>
          </p:nvPr>
        </p:nvSpPr>
        <p:spPr>
          <a:xfrm>
            <a:off x="224133" y="743250"/>
            <a:ext cx="8520600" cy="205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-GB" sz="1200"/>
              <a:t>1. How does your solution enrich minimal product information?</a:t>
            </a:r>
            <a:endParaRPr sz="1200"/>
          </a:p>
        </p:txBody>
      </p:sp>
      <p:sp>
        <p:nvSpPr>
          <p:cNvPr id="120" name="TextBox 119"/>
          <p:cNvSpPr txBox="1"/>
          <p:nvPr/>
        </p:nvSpPr>
        <p:spPr>
          <a:xfrm>
            <a:off x="475488" y="1243584"/>
            <a:ext cx="8193024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 b="1">
                <a:solidFill>
                  <a:srgbClr val="00386F"/>
                </a:solidFill>
                <a:latin typeface="Calibri"/>
              </a:rPr>
              <a:t>Input is six columns</a:t>
            </a:r>
            <a:r>
              <a:rPr sz="1150" b="0">
                <a:solidFill>
                  <a:srgbClr val="1B2432"/>
                </a:solidFill>
                <a:latin typeface="Calibri"/>
              </a:rPr>
              <a:t> — part number, description, three inconsistent brand fields and a manufacturer string. From that, CALIPER derives facts and never invents them: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050" b="1">
                <a:solidFill>
                  <a:srgbClr val="0B5FA5"/>
                </a:solidFill>
                <a:latin typeface="Calibri"/>
              </a:rPr>
              <a:t>Parse, don't guess.  </a:t>
            </a:r>
            <a:r>
              <a:rPr sz="1050" b="0">
                <a:solidFill>
                  <a:srgbClr val="1B2432"/>
                </a:solidFill>
                <a:latin typeface="Calibri"/>
              </a:rPr>
              <a:t>Dimensions, grits, wattages, counts and materials are lifted from the description by typed rules. Each becomes a fact carrying the exact substring it came from: a description reading 6 in x .045 in x 7/8 in yields three separate measurements, each traceable.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050" b="1">
                <a:solidFill>
                  <a:srgbClr val="0B5FA5"/>
                </a:solidFill>
                <a:latin typeface="Calibri"/>
              </a:rPr>
              <a:t>Resolve identity against a registry.  </a:t>
            </a:r>
            <a:r>
              <a:rPr sz="1050" b="0">
                <a:solidFill>
                  <a:srgbClr val="1B2432"/>
                </a:solidFill>
                <a:latin typeface="Calibri"/>
              </a:rPr>
              <a:t>"Milw" becomes Milwaukee®; distributor noise like "(4031)" is stripped. Where brand and manufacturer disagree, that is reported as a defect in the supplier's data rather than silently overwritten.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050" b="1">
                <a:solidFill>
                  <a:srgbClr val="0B5FA5"/>
                </a:solidFill>
                <a:latin typeface="Calibri"/>
              </a:rPr>
              <a:t>Borrow from siblings, with corroboration.  </a:t>
            </a:r>
            <a:r>
              <a:rPr sz="1050" b="0">
                <a:solidFill>
                  <a:srgbClr val="1B2432"/>
                </a:solidFill>
                <a:latin typeface="Calibri"/>
              </a:rPr>
              <a:t>Products are clustered into families by part-number and description shape. A fact missing on one row is filled only when at least two agreeing siblings supply it — and disagreement lowers confidence.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050" b="1">
                <a:solidFill>
                  <a:srgbClr val="0B5FA5"/>
                </a:solidFill>
                <a:latin typeface="Calibri"/>
              </a:rPr>
              <a:t>Induce the category rulebook from the data.  </a:t>
            </a:r>
            <a:r>
              <a:rPr sz="1050" b="0">
                <a:solidFill>
                  <a:srgbClr val="1B2432"/>
                </a:solidFill>
                <a:latin typeface="Calibri"/>
              </a:rPr>
              <a:t>Which attributes a category has, and which are filterable, is derived from the rows themselves with a fill rate behind every attribute — the work normally done by hand for tens of thousands of categories.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050" b="1">
                <a:solidFill>
                  <a:srgbClr val="0B5FA5"/>
                </a:solidFill>
                <a:latin typeface="Calibri"/>
              </a:rPr>
              <a:t>Compose to the format, not to a prompt.  </a:t>
            </a:r>
            <a:r>
              <a:rPr sz="1050" b="0">
                <a:solidFill>
                  <a:srgbClr val="1B2432"/>
                </a:solidFill>
                <a:latin typeface="Calibri"/>
              </a:rPr>
              <a:t>Five descriptions are generated from the same facts under their own length and casing rules, so they cannot contradict each other.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9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29"/>
          <p:cNvSpPr txBox="1"/>
          <p:nvPr/>
        </p:nvSpPr>
        <p:spPr>
          <a:xfrm>
            <a:off x="183250" y="818550"/>
            <a:ext cx="8784300" cy="14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Opportunities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oogle Sans"/>
              <a:buAutoNum type="alphaLcPeriod"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How different is it from any of the other existing ideas?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oogle Sans"/>
              <a:buAutoNum type="alphaLcPeriod"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How will it be able to solve the problem statemen</a:t>
            </a:r>
            <a:r>
              <a:rPr lang="en-GB" sz="1800">
                <a:latin typeface="Google Sans"/>
                <a:ea typeface="Google Sans"/>
                <a:cs typeface="Google Sans"/>
                <a:sym typeface="Google Sans"/>
              </a:rPr>
              <a:t>t given</a:t>
            </a: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?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oogle Sans"/>
              <a:buAutoNum type="alphaLcPeriod"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USP of the proposed solution</a:t>
            </a:r>
            <a:endParaRPr sz="1800"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595959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26" name="TextBox 125"/>
          <p:cNvSpPr txBox="1"/>
          <p:nvPr/>
        </p:nvSpPr>
        <p:spPr>
          <a:xfrm>
            <a:off x="475488" y="2221992"/>
            <a:ext cx="8193024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386F"/>
                </a:solidFill>
                <a:latin typeface="Calibri"/>
              </a:rPr>
              <a:t>How different is it from existing ideas?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50" b="0" i="0">
                <a:solidFill>
                  <a:srgbClr val="1B2432"/>
                </a:solidFill>
                <a:latin typeface="Calibri"/>
              </a:rPr>
              <a:t>Every other approach we found prompts a model and validates afterwards, so a wrong value has already been written. CALIPER inverts the control flow: the model cannot reach an output cell at all. It proposes facts that must quote the source, or audits facts that already exist — and an unquoted proposal is discarded, not corrected.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386F"/>
                </a:solidFill>
                <a:latin typeface="Calibri"/>
              </a:rPr>
              <a:t>How does it solve the problem statement?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50" b="0" i="0">
                <a:solidFill>
                  <a:srgbClr val="1B2432"/>
                </a:solidFill>
                <a:latin typeface="Calibri"/>
              </a:rPr>
              <a:t>It produces all 252 delivery columns from six, at ~3 seconds per 1,000 rows, with 77.4% of rows ready to publish unattended and the remainder routed to a review queue ranked by how much that review is worth. It also reports defects it finds in the supplier's own catalogue.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386F"/>
                </a:solidFill>
                <a:latin typeface="Calibri"/>
              </a:rPr>
              <a:t>USP of the proposed solution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50" b="0" i="0">
                <a:solidFill>
                  <a:srgbClr val="1B2432"/>
                </a:solidFill>
                <a:latin typeface="Calibri"/>
              </a:rPr>
              <a:t>Auditability as an architectural guarantee, not a report. 26,596 populated cells each carry a rule id, a confidence and the source characters behind them. Because two labelled rows cannot support a claim, we also publish a label-free measure — sibling agreement across all 1,000 rows, 99.5% over 1,516 comparisons.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30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30"/>
          <p:cNvSpPr txBox="1"/>
          <p:nvPr/>
        </p:nvSpPr>
        <p:spPr>
          <a:xfrm>
            <a:off x="195475" y="855225"/>
            <a:ext cx="8698800" cy="5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List of features offered by the solution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32" name="Rectangle 131"/>
          <p:cNvSpPr/>
          <p:nvPr/>
        </p:nvSpPr>
        <p:spPr>
          <a:xfrm>
            <a:off x="475488" y="1719072"/>
            <a:ext cx="2633472" cy="822960"/>
          </a:xfrm>
          <a:prstGeom prst="rect">
            <a:avLst/>
          </a:prstGeom>
          <a:solidFill>
            <a:srgbClr val="F3F7FB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85216" y="1819656"/>
            <a:ext cx="2414015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 i="0">
                <a:solidFill>
                  <a:srgbClr val="00386F"/>
                </a:solidFill>
                <a:latin typeface="Calibri"/>
              </a:rPr>
              <a:t>Evidence panel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1B2432"/>
                </a:solidFill>
                <a:latin typeface="Calibri"/>
              </a:rPr>
              <a:t>Click a row: every populated column shows its method, rule id, confidence and the source substring.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3255264" y="1719072"/>
            <a:ext cx="2633472" cy="822960"/>
          </a:xfrm>
          <a:prstGeom prst="rect">
            <a:avLst/>
          </a:prstGeom>
          <a:solidFill>
            <a:srgbClr val="F3F7FB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3364992" y="1819656"/>
            <a:ext cx="2414015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 i="0">
                <a:solidFill>
                  <a:srgbClr val="00386F"/>
                </a:solidFill>
                <a:latin typeface="Calibri"/>
              </a:rPr>
              <a:t>Character-budget solver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1B2432"/>
                </a:solidFill>
                <a:latin typeface="Calibri"/>
              </a:rPr>
              <a:t>INVOICE_DESC's 40-character upper-case ceiling solved as a budget problem. 100% compliant by construction.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035040" y="1719072"/>
            <a:ext cx="2633472" cy="822960"/>
          </a:xfrm>
          <a:prstGeom prst="rect">
            <a:avLst/>
          </a:prstGeom>
          <a:solidFill>
            <a:srgbClr val="F3F7FB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144768" y="1819656"/>
            <a:ext cx="2414015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 i="0">
                <a:solidFill>
                  <a:srgbClr val="00386F"/>
                </a:solidFill>
                <a:latin typeface="Calibri"/>
              </a:rPr>
              <a:t>Schema detection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1B2432"/>
                </a:solidFill>
                <a:latin typeface="Calibri"/>
              </a:rPr>
              <a:t>Column roles are detected, not assumed — the same pipeline runs on a file whose headers it has never seen.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475488" y="2670048"/>
            <a:ext cx="2633472" cy="822960"/>
          </a:xfrm>
          <a:prstGeom prst="rect">
            <a:avLst/>
          </a:prstGeom>
          <a:solidFill>
            <a:srgbClr val="F3F7FB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585216" y="2770632"/>
            <a:ext cx="2414015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 i="0">
                <a:solidFill>
                  <a:srgbClr val="00386F"/>
                </a:solidFill>
                <a:latin typeface="Calibri"/>
              </a:rPr>
              <a:t>Category-spec induction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1B2432"/>
                </a:solidFill>
                <a:latin typeface="Calibri"/>
              </a:rPr>
              <a:t>Unilog-style category rulebooks derived from the rows, with a fill rate behind every attribute.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3255264" y="2670048"/>
            <a:ext cx="2633472" cy="822960"/>
          </a:xfrm>
          <a:prstGeom prst="rect">
            <a:avLst/>
          </a:prstGeom>
          <a:solidFill>
            <a:srgbClr val="F3F7FB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3364992" y="2770632"/>
            <a:ext cx="2414015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 i="0">
                <a:solidFill>
                  <a:srgbClr val="00386F"/>
                </a:solidFill>
                <a:latin typeface="Calibri"/>
              </a:rPr>
              <a:t>Family consensus + anomaly flags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1B2432"/>
                </a:solidFill>
                <a:latin typeface="Calibri"/>
              </a:rPr>
              <a:t>Gaps filled only from corroborating siblings; rows that break their family pattern are surfaced.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6035040" y="2670048"/>
            <a:ext cx="2633472" cy="822960"/>
          </a:xfrm>
          <a:prstGeom prst="rect">
            <a:avLst/>
          </a:prstGeom>
          <a:solidFill>
            <a:srgbClr val="F3F7FB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6144768" y="2770632"/>
            <a:ext cx="2414015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 i="0">
                <a:solidFill>
                  <a:srgbClr val="00386F"/>
                </a:solidFill>
                <a:latin typeface="Calibri"/>
              </a:rPr>
              <a:t>Physical guardrails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1B2432"/>
                </a:solidFill>
                <a:latin typeface="Calibri"/>
              </a:rPr>
              <a:t>Domain ranges and dimensional coherence. These caught a bug in our own parser.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75488" y="3621024"/>
            <a:ext cx="2633472" cy="822960"/>
          </a:xfrm>
          <a:prstGeom prst="rect">
            <a:avLst/>
          </a:prstGeom>
          <a:solidFill>
            <a:srgbClr val="F3F7FB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85216" y="3721608"/>
            <a:ext cx="2414015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 i="0">
                <a:solidFill>
                  <a:srgbClr val="00386F"/>
                </a:solidFill>
                <a:latin typeface="Calibri"/>
              </a:rPr>
              <a:t>Findings on the source data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1B2432"/>
                </a:solidFill>
                <a:latin typeface="Calibri"/>
              </a:rPr>
              <a:t>Brand/manufacturer conflicts and unresolvable rows reported rather than absorbed.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3255264" y="3621024"/>
            <a:ext cx="2633472" cy="822960"/>
          </a:xfrm>
          <a:prstGeom prst="rect">
            <a:avLst/>
          </a:prstGeom>
          <a:solidFill>
            <a:srgbClr val="F3F7FB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3364992" y="3721608"/>
            <a:ext cx="2414015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 i="0">
                <a:solidFill>
                  <a:srgbClr val="00386F"/>
                </a:solidFill>
                <a:latin typeface="Calibri"/>
              </a:rPr>
              <a:t>Review queue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1B2432"/>
                </a:solidFill>
                <a:latin typeface="Calibri"/>
              </a:rPr>
              <a:t>The rows a human should look at, ranked by the value of looking.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035040" y="3621024"/>
            <a:ext cx="2633472" cy="822960"/>
          </a:xfrm>
          <a:prstGeom prst="rect">
            <a:avLst/>
          </a:prstGeom>
          <a:solidFill>
            <a:srgbClr val="F3F7FB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144768" y="3721608"/>
            <a:ext cx="2414015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 i="0">
                <a:solidFill>
                  <a:srgbClr val="00386F"/>
                </a:solidFill>
                <a:latin typeface="Calibri"/>
              </a:rPr>
              <a:t>Optional model, firewalled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1B2432"/>
                </a:solidFill>
                <a:latin typeface="Calibri"/>
              </a:rPr>
              <a:t>Bring your own key for extra recall. Held in memory only; proposals without a verbatim quote are discarded.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" name="Google Shape;136;p31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31"/>
          <p:cNvSpPr txBox="1"/>
          <p:nvPr/>
        </p:nvSpPr>
        <p:spPr>
          <a:xfrm>
            <a:off x="195475" y="830775"/>
            <a:ext cx="8772000" cy="51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Process flow diagram or Use-case diagram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38" name="Rectangle 137"/>
          <p:cNvSpPr/>
          <p:nvPr/>
        </p:nvSpPr>
        <p:spPr>
          <a:xfrm>
            <a:off x="530352" y="1682496"/>
            <a:ext cx="2487168" cy="786384"/>
          </a:xfrm>
          <a:prstGeom prst="rect">
            <a:avLst/>
          </a:prstGeom>
          <a:solidFill>
            <a:srgbClr val="F3F7FB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21792" y="1773936"/>
            <a:ext cx="2304288" cy="6035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00386F"/>
                </a:solidFill>
                <a:latin typeface="Calibri"/>
              </a:rPr>
              <a:t>1 · Ingest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A6678"/>
                </a:solidFill>
                <a:latin typeface="Calibri"/>
              </a:rPr>
              <a:t>CSV or XLSX read
with the standard library</a:t>
            </a:r>
          </a:p>
        </p:txBody>
      </p:sp>
      <p:sp>
        <p:nvSpPr>
          <p:cNvPr id="140" name="Right Arrow 139"/>
          <p:cNvSpPr/>
          <p:nvPr/>
        </p:nvSpPr>
        <p:spPr>
          <a:xfrm>
            <a:off x="3099816" y="2002536"/>
            <a:ext cx="219456" cy="146304"/>
          </a:xfrm>
          <a:prstGeom prst="rightArrow">
            <a:avLst/>
          </a:prstGeom>
          <a:solidFill>
            <a:srgbClr val="0B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3401568" y="1682496"/>
            <a:ext cx="2487168" cy="786384"/>
          </a:xfrm>
          <a:prstGeom prst="rect">
            <a:avLst/>
          </a:prstGeom>
          <a:solidFill>
            <a:srgbClr val="F3F7FB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3493008" y="1773936"/>
            <a:ext cx="2304288" cy="6035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00386F"/>
                </a:solidFill>
                <a:latin typeface="Calibri"/>
              </a:rPr>
              <a:t>2 · Detect schema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A6678"/>
                </a:solidFill>
                <a:latin typeface="Calibri"/>
              </a:rPr>
              <a:t>Column roles inferred
from headers and values</a:t>
            </a:r>
          </a:p>
        </p:txBody>
      </p:sp>
      <p:sp>
        <p:nvSpPr>
          <p:cNvPr id="143" name="Right Arrow 142"/>
          <p:cNvSpPr/>
          <p:nvPr/>
        </p:nvSpPr>
        <p:spPr>
          <a:xfrm>
            <a:off x="5971032" y="2002536"/>
            <a:ext cx="219456" cy="146304"/>
          </a:xfrm>
          <a:prstGeom prst="rightArrow">
            <a:avLst/>
          </a:prstGeom>
          <a:solidFill>
            <a:srgbClr val="0B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6272784" y="1682496"/>
            <a:ext cx="2487168" cy="786384"/>
          </a:xfrm>
          <a:prstGeom prst="rect">
            <a:avLst/>
          </a:prstGeom>
          <a:solidFill>
            <a:srgbClr val="F3F7FB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6364224" y="1773936"/>
            <a:ext cx="2304288" cy="6035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00386F"/>
                </a:solidFill>
                <a:latin typeface="Calibri"/>
              </a:rPr>
              <a:t>3 · Extract facts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A6678"/>
                </a:solidFill>
                <a:latin typeface="Calibri"/>
              </a:rPr>
              <a:t>Typed rules, registry, taxonomy.
No evidence, no fact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30352" y="2980944"/>
            <a:ext cx="2487168" cy="786384"/>
          </a:xfrm>
          <a:prstGeom prst="rect">
            <a:avLst/>
          </a:prstGeom>
          <a:solidFill>
            <a:srgbClr val="F3F7FB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621792" y="3072384"/>
            <a:ext cx="2304288" cy="6035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00386F"/>
                </a:solidFill>
                <a:latin typeface="Calibri"/>
              </a:rPr>
              <a:t>4 · Corroborate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A6678"/>
                </a:solidFill>
                <a:latin typeface="Calibri"/>
              </a:rPr>
              <a:t>Family clustering; gaps filled
only by agreeing siblings</a:t>
            </a:r>
          </a:p>
        </p:txBody>
      </p:sp>
      <p:sp>
        <p:nvSpPr>
          <p:cNvPr id="148" name="Right Arrow 147"/>
          <p:cNvSpPr/>
          <p:nvPr/>
        </p:nvSpPr>
        <p:spPr>
          <a:xfrm>
            <a:off x="3099816" y="3300984"/>
            <a:ext cx="219456" cy="146304"/>
          </a:xfrm>
          <a:prstGeom prst="rightArrow">
            <a:avLst/>
          </a:prstGeom>
          <a:solidFill>
            <a:srgbClr val="0B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3401568" y="2980944"/>
            <a:ext cx="2487168" cy="786384"/>
          </a:xfrm>
          <a:prstGeom prst="rect">
            <a:avLst/>
          </a:prstGeom>
          <a:solidFill>
            <a:srgbClr val="F3F7FB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3493008" y="3072384"/>
            <a:ext cx="2304288" cy="6035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00386F"/>
                </a:solidFill>
                <a:latin typeface="Calibri"/>
              </a:rPr>
              <a:t>5 · Compose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A6678"/>
                </a:solidFill>
                <a:latin typeface="Calibri"/>
              </a:rPr>
              <a:t>Five descriptions from one
fact set, under their limits</a:t>
            </a:r>
          </a:p>
        </p:txBody>
      </p:sp>
      <p:sp>
        <p:nvSpPr>
          <p:cNvPr id="151" name="Right Arrow 150"/>
          <p:cNvSpPr/>
          <p:nvPr/>
        </p:nvSpPr>
        <p:spPr>
          <a:xfrm>
            <a:off x="5971032" y="3300984"/>
            <a:ext cx="219456" cy="146304"/>
          </a:xfrm>
          <a:prstGeom prst="rightArrow">
            <a:avLst/>
          </a:prstGeom>
          <a:solidFill>
            <a:srgbClr val="0B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6272784" y="2980944"/>
            <a:ext cx="2487168" cy="786384"/>
          </a:xfrm>
          <a:prstGeom prst="rect">
            <a:avLst/>
          </a:prstGeom>
          <a:solidFill>
            <a:srgbClr val="F3F7FB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6364224" y="3072384"/>
            <a:ext cx="2304288" cy="6035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00386F"/>
                </a:solidFill>
                <a:latin typeface="Calibri"/>
              </a:rPr>
              <a:t>6 · Validate &amp; route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A6678"/>
                </a:solidFill>
                <a:latin typeface="Calibri"/>
              </a:rPr>
              <a:t>Guardrails, then ready
or review queue</a:t>
            </a:r>
          </a:p>
        </p:txBody>
      </p:sp>
      <p:sp>
        <p:nvSpPr>
          <p:cNvPr id="154" name="Down Arrow 153"/>
          <p:cNvSpPr/>
          <p:nvPr/>
        </p:nvSpPr>
        <p:spPr>
          <a:xfrm>
            <a:off x="7443216" y="2596896"/>
            <a:ext cx="146304" cy="274320"/>
          </a:xfrm>
          <a:prstGeom prst="downArrow">
            <a:avLst/>
          </a:prstGeom>
          <a:solidFill>
            <a:srgbClr val="0B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75488" y="4206240"/>
            <a:ext cx="8193024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0386F"/>
                </a:solidFill>
                <a:latin typeface="Calibri"/>
              </a:rPr>
              <a:t>The one-way rule: </a:t>
            </a:r>
            <a:r>
              <a:rPr sz="1050" b="0">
                <a:solidFill>
                  <a:srgbClr val="1B2432"/>
                </a:solidFill>
                <a:latin typeface="Calibri"/>
              </a:rPr>
              <a:t>steps 1–4 write facts into the graph. Steps 5–6 only read from it. A model may join step 3 as a proposer whose quote is checked against the source, or step 6 as an auditor — it is never given write access to an output column.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Google Shape;142;p32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2"/>
          <p:cNvSpPr txBox="1"/>
          <p:nvPr/>
        </p:nvSpPr>
        <p:spPr>
          <a:xfrm>
            <a:off x="207700" y="879650"/>
            <a:ext cx="87231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Wireframes/Mock diagrams of the proposed solution (optional)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144" name="Picture 143" descr="panel_t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799" y="1536192"/>
            <a:ext cx="3983025" cy="2889503"/>
          </a:xfrm>
          <a:prstGeom prst="rect">
            <a:avLst/>
          </a:prstGeom>
          <a:ln w="9525">
            <a:solidFill>
              <a:srgbClr val="D5DEE8"/>
            </a:solidFill>
          </a:ln>
        </p:spPr>
      </p:pic>
      <p:sp>
        <p:nvSpPr>
          <p:cNvPr id="145" name="TextBox 144"/>
          <p:cNvSpPr txBox="1"/>
          <p:nvPr/>
        </p:nvSpPr>
        <p:spPr>
          <a:xfrm>
            <a:off x="4736592" y="1572768"/>
            <a:ext cx="3931920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0386F"/>
                </a:solidFill>
                <a:latin typeface="Calibri"/>
              </a:rPr>
              <a:t>The interface, in the order a judge meets it</a:t>
            </a:r>
          </a:p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950" b="1">
                <a:solidFill>
                  <a:srgbClr val="0B5FA5"/>
                </a:solidFill>
                <a:latin typeface="Calibri"/>
              </a:rPr>
              <a:t>It is already running.  </a:t>
            </a:r>
            <a:r>
              <a:rPr sz="950" b="0">
                <a:solidFill>
                  <a:srgbClr val="1B2432"/>
                </a:solidFill>
                <a:latin typeface="Calibri"/>
              </a:rPr>
              <a:t>The page enriches 1,000 SKUs on load. No button, no key, no setup — the first ten seconds show output, not a form.</a:t>
            </a:r>
          </a:p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950" b="1">
                <a:solidFill>
                  <a:srgbClr val="0B5FA5"/>
                </a:solidFill>
                <a:latin typeface="Calibri"/>
              </a:rPr>
              <a:t>Upload, or use the sample.  </a:t>
            </a:r>
            <a:r>
              <a:rPr sz="950" b="0">
                <a:solidFill>
                  <a:srgbClr val="1B2432"/>
                </a:solidFill>
                <a:latin typeface="Calibri"/>
              </a:rPr>
              <a:t>Drop in any catalogue CSV. Column roles are detected and printed back.</a:t>
            </a:r>
          </a:p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950" b="1">
                <a:solidFill>
                  <a:srgbClr val="0B5FA5"/>
                </a:solidFill>
                <a:latin typeface="Calibri"/>
              </a:rPr>
              <a:t>The model is opt-in.  </a:t>
            </a:r>
            <a:r>
              <a:rPr sz="950" b="0">
                <a:solidFill>
                  <a:srgbClr val="1B2432"/>
                </a:solidFill>
                <a:latin typeface="Calibri"/>
              </a:rPr>
              <a:t>Ticking the box reveals a provider and a key field. Left alone, the deterministic path still fills all 252 columns.</a:t>
            </a:r>
          </a:p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950" b="1">
                <a:solidFill>
                  <a:srgbClr val="0B5FA5"/>
                </a:solidFill>
                <a:latin typeface="Calibri"/>
              </a:rPr>
              <a:t>Then: catalogue, evidence, findings, induced specs, downloads.  </a:t>
            </a:r>
            <a:r>
              <a:rPr sz="950" b="0">
                <a:solidFill>
                  <a:srgbClr val="1B2432"/>
                </a:solidFill>
                <a:latin typeface="Calibri"/>
              </a:rPr>
              <a:t>Five tabs, in that order — the evidence panel sits directly under the table so one click explains a row.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75488" y="4480560"/>
            <a:ext cx="8193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5A6678"/>
                </a:solidFill>
                <a:latin typeface="Calibri"/>
              </a:rPr>
              <a:t>Screenshot of the running prototype, light theme; the page also renders correctly in dark mode.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33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33"/>
          <p:cNvSpPr txBox="1"/>
          <p:nvPr/>
        </p:nvSpPr>
        <p:spPr>
          <a:xfrm>
            <a:off x="171050" y="867425"/>
            <a:ext cx="88209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Architecture diagram of the proposed solution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50" name="Rectangle 149"/>
          <p:cNvSpPr/>
          <p:nvPr/>
        </p:nvSpPr>
        <p:spPr>
          <a:xfrm>
            <a:off x="475488" y="1682496"/>
            <a:ext cx="21031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566928" y="1773936"/>
            <a:ext cx="1920239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00386F"/>
                </a:solidFill>
                <a:latin typeface="Calibri"/>
              </a:rPr>
              <a:t>Rule extractors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475488" y="2066544"/>
            <a:ext cx="21031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566928" y="2157984"/>
            <a:ext cx="1920239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00386F"/>
                </a:solidFill>
                <a:latin typeface="Calibri"/>
              </a:rPr>
              <a:t>Brand / manufacturer registry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75488" y="2450592"/>
            <a:ext cx="21031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566928" y="2542032"/>
            <a:ext cx="1920239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00386F"/>
                </a:solidFill>
                <a:latin typeface="Calibri"/>
              </a:rPr>
              <a:t>Taxonomy + induced specs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475488" y="2834640"/>
            <a:ext cx="21031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66928" y="2926080"/>
            <a:ext cx="1920239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00386F"/>
                </a:solidFill>
                <a:latin typeface="Calibri"/>
              </a:rPr>
              <a:t>Family consensus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475488" y="3218688"/>
            <a:ext cx="2103120" cy="310896"/>
          </a:xfrm>
          <a:prstGeom prst="rect">
            <a:avLst/>
          </a:prstGeom>
          <a:solidFill>
            <a:srgbClr val="FDF4E2"/>
          </a:solidFill>
          <a:ln w="9525">
            <a:solidFill>
              <a:srgbClr val="E0C9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566928" y="3310128"/>
            <a:ext cx="1920239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8A6417"/>
                </a:solidFill>
                <a:latin typeface="Calibri"/>
              </a:rPr>
              <a:t>Model proposer (quotes only)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75488" y="1444752"/>
            <a:ext cx="2103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5A6678"/>
                </a:solidFill>
                <a:latin typeface="Calibri"/>
              </a:rPr>
              <a:t>WRITE</a:t>
            </a:r>
          </a:p>
        </p:txBody>
      </p:sp>
      <p:sp>
        <p:nvSpPr>
          <p:cNvPr id="161" name="Right Arrow 160"/>
          <p:cNvSpPr/>
          <p:nvPr/>
        </p:nvSpPr>
        <p:spPr>
          <a:xfrm>
            <a:off x="2633472" y="1764792"/>
            <a:ext cx="274320" cy="146304"/>
          </a:xfrm>
          <a:prstGeom prst="rightArrow">
            <a:avLst/>
          </a:prstGeom>
          <a:solidFill>
            <a:srgbClr val="0B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ight Arrow 161"/>
          <p:cNvSpPr/>
          <p:nvPr/>
        </p:nvSpPr>
        <p:spPr>
          <a:xfrm>
            <a:off x="2633472" y="2148840"/>
            <a:ext cx="274320" cy="146304"/>
          </a:xfrm>
          <a:prstGeom prst="rightArrow">
            <a:avLst/>
          </a:prstGeom>
          <a:solidFill>
            <a:srgbClr val="0B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ight Arrow 162"/>
          <p:cNvSpPr/>
          <p:nvPr/>
        </p:nvSpPr>
        <p:spPr>
          <a:xfrm>
            <a:off x="2633472" y="2532888"/>
            <a:ext cx="274320" cy="146304"/>
          </a:xfrm>
          <a:prstGeom prst="rightArrow">
            <a:avLst/>
          </a:prstGeom>
          <a:solidFill>
            <a:srgbClr val="0B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ight Arrow 163"/>
          <p:cNvSpPr/>
          <p:nvPr/>
        </p:nvSpPr>
        <p:spPr>
          <a:xfrm>
            <a:off x="2633472" y="2916936"/>
            <a:ext cx="274320" cy="146304"/>
          </a:xfrm>
          <a:prstGeom prst="rightArrow">
            <a:avLst/>
          </a:prstGeom>
          <a:solidFill>
            <a:srgbClr val="0B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ight Arrow 164"/>
          <p:cNvSpPr/>
          <p:nvPr/>
        </p:nvSpPr>
        <p:spPr>
          <a:xfrm>
            <a:off x="2633472" y="3300984"/>
            <a:ext cx="274320" cy="146304"/>
          </a:xfrm>
          <a:prstGeom prst="rightArrow">
            <a:avLst/>
          </a:prstGeom>
          <a:solidFill>
            <a:srgbClr val="0B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2962656" y="1682496"/>
            <a:ext cx="2834640" cy="1847088"/>
          </a:xfrm>
          <a:prstGeom prst="rect">
            <a:avLst/>
          </a:prstGeom>
          <a:solidFill>
            <a:srgbClr val="ECF3FA"/>
          </a:solidFill>
          <a:ln w="9525">
            <a:solidFill>
              <a:srgbClr val="0038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3072384" y="1810512"/>
            <a:ext cx="2615184" cy="16093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1" i="0">
                <a:solidFill>
                  <a:srgbClr val="00386F"/>
                </a:solidFill>
                <a:latin typeface="Calibri"/>
              </a:rPr>
              <a:t>PRODUCT FACT GRAPH</a:t>
            </a:r>
          </a:p>
          <a:p>
            <a:pPr algn="ctr">
              <a:lnSpc>
                <a:spcPct val="110000"/>
              </a:lnSpc>
              <a:spcAft>
                <a:spcPts val="700"/>
              </a:spcAft>
            </a:pPr>
            <a:r>
              <a:rPr sz="900" b="0" i="0">
                <a:solidFill>
                  <a:srgbClr val="1B2432"/>
                </a:solidFill>
                <a:latin typeface="Calibri"/>
              </a:rPr>
              <a:t>Typed facts, each with evidence,
confidence and provenance</a:t>
            </a:r>
          </a:p>
          <a:p>
            <a:pPr algn="ctr">
              <a:lnSpc>
                <a:spcPct val="110000"/>
              </a:lnSpc>
              <a:spcAft>
                <a:spcPts val="700"/>
              </a:spcAft>
            </a:pPr>
            <a:r>
              <a:rPr sz="950" b="1" i="0">
                <a:solidFill>
                  <a:srgbClr val="B03021"/>
                </a:solidFill>
                <a:latin typeface="Calibri"/>
              </a:rPr>
              <a:t>A fact without evidence is
rejected at insertion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5A6678"/>
                </a:solidFill>
                <a:latin typeface="Calibri"/>
              </a:rPr>
              <a:t>Agreement raises confidence.
Conflict lowers it.</a:t>
            </a:r>
          </a:p>
        </p:txBody>
      </p:sp>
      <p:sp>
        <p:nvSpPr>
          <p:cNvPr id="168" name="Right Arrow 167"/>
          <p:cNvSpPr/>
          <p:nvPr/>
        </p:nvSpPr>
        <p:spPr>
          <a:xfrm>
            <a:off x="5852160" y="1956816"/>
            <a:ext cx="274320" cy="146304"/>
          </a:xfrm>
          <a:prstGeom prst="rightArrow">
            <a:avLst/>
          </a:prstGeom>
          <a:solidFill>
            <a:srgbClr val="0B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ight Arrow 168"/>
          <p:cNvSpPr/>
          <p:nvPr/>
        </p:nvSpPr>
        <p:spPr>
          <a:xfrm>
            <a:off x="5852160" y="2340864"/>
            <a:ext cx="274320" cy="146304"/>
          </a:xfrm>
          <a:prstGeom prst="rightArrow">
            <a:avLst/>
          </a:prstGeom>
          <a:solidFill>
            <a:srgbClr val="0B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ight Arrow 169"/>
          <p:cNvSpPr/>
          <p:nvPr/>
        </p:nvSpPr>
        <p:spPr>
          <a:xfrm>
            <a:off x="5852160" y="2724912"/>
            <a:ext cx="274320" cy="146304"/>
          </a:xfrm>
          <a:prstGeom prst="rightArrow">
            <a:avLst/>
          </a:prstGeom>
          <a:solidFill>
            <a:srgbClr val="0B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ight Arrow 170"/>
          <p:cNvSpPr/>
          <p:nvPr/>
        </p:nvSpPr>
        <p:spPr>
          <a:xfrm>
            <a:off x="5852160" y="3108960"/>
            <a:ext cx="274320" cy="146304"/>
          </a:xfrm>
          <a:prstGeom prst="rightArrow">
            <a:avLst/>
          </a:prstGeom>
          <a:solidFill>
            <a:srgbClr val="0B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6181344" y="1901952"/>
            <a:ext cx="21396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6272783" y="1993392"/>
            <a:ext cx="1956815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00386F"/>
                </a:solidFill>
                <a:latin typeface="Calibri"/>
              </a:rPr>
              <a:t>Description composer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6181344" y="2286000"/>
            <a:ext cx="21396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6272783" y="2377440"/>
            <a:ext cx="1956815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00386F"/>
                </a:solidFill>
                <a:latin typeface="Calibri"/>
              </a:rPr>
              <a:t>Validator + guardrails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6181344" y="2670048"/>
            <a:ext cx="21396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6272783" y="2761488"/>
            <a:ext cx="1956815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00386F"/>
                </a:solidFill>
                <a:latin typeface="Calibri"/>
              </a:rPr>
              <a:t>252-column exporter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181344" y="3054096"/>
            <a:ext cx="21396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272783" y="3145536"/>
            <a:ext cx="1956815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00386F"/>
                </a:solidFill>
                <a:latin typeface="Calibri"/>
              </a:rPr>
              <a:t>Evidence panel / review queue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6181344" y="1444752"/>
            <a:ext cx="21396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5A6678"/>
                </a:solidFill>
                <a:latin typeface="Calibri"/>
              </a:rPr>
              <a:t>READ ONLY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75488" y="3712464"/>
            <a:ext cx="8193024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0386F"/>
                </a:solidFill>
                <a:latin typeface="Calibri"/>
              </a:rPr>
              <a:t>The boundary is one-way and that is the whole design. </a:t>
            </a:r>
            <a:r>
              <a:rPr sz="1050" b="0">
                <a:solidFill>
                  <a:srgbClr val="1B2432"/>
                </a:solidFill>
                <a:latin typeface="Calibri"/>
              </a:rPr>
              <a:t>Readers cannot create values; writers cannot skip evidence. A model sits on the left as a proposer whose quote is verified against the source, and on the right as an auditor returning supported / unsupported / unknown — in neither role can it originate a cell.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34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34"/>
          <p:cNvSpPr txBox="1"/>
          <p:nvPr/>
        </p:nvSpPr>
        <p:spPr>
          <a:xfrm>
            <a:off x="158825" y="855225"/>
            <a:ext cx="8784300" cy="112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Technologies used in the solution</a:t>
            </a:r>
            <a:endParaRPr b="0" i="0" sz="12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56" name="TextBox 155"/>
          <p:cNvSpPr txBox="1"/>
          <p:nvPr/>
        </p:nvSpPr>
        <p:spPr>
          <a:xfrm>
            <a:off x="475488" y="1700784"/>
            <a:ext cx="819302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0386F"/>
                </a:solidFill>
                <a:latin typeface="Calibri"/>
              </a:rPr>
              <a:t>Python 3.12, standard library only. </a:t>
            </a:r>
            <a:r>
              <a:rPr sz="1100" b="0">
                <a:solidFill>
                  <a:srgbClr val="1B2432"/>
                </a:solidFill>
                <a:latin typeface="Calibri"/>
              </a:rPr>
              <a:t>The pipeline imports nothing outside the stdlib — CSV and XLSX are read and written with zipfile and XML directly. There is no pandas, no openpyxl, no ML framework and no dependency that can break a build.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475488" y="2340864"/>
            <a:ext cx="4023360" cy="566928"/>
          </a:xfrm>
          <a:prstGeom prst="rect">
            <a:avLst/>
          </a:prstGeom>
          <a:solidFill>
            <a:srgbClr val="F3F7FB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03504" y="2432304"/>
            <a:ext cx="3767328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00386F"/>
                </a:solidFill>
                <a:latin typeface="Calibri"/>
              </a:rPr>
              <a:t>Core pipeline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 i="0">
                <a:solidFill>
                  <a:srgbClr val="1B2432"/>
                </a:solidFill>
                <a:latin typeface="Calibri"/>
              </a:rPr>
              <a:t>Python 3.12 · standard library only · no packages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4645152" y="2340864"/>
            <a:ext cx="4023360" cy="566928"/>
          </a:xfrm>
          <a:prstGeom prst="rect">
            <a:avLst/>
          </a:prstGeom>
          <a:solidFill>
            <a:srgbClr val="F3F7FB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773168" y="2432304"/>
            <a:ext cx="3767328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00386F"/>
                </a:solidFill>
                <a:latin typeface="Calibri"/>
              </a:rPr>
              <a:t>Data I/O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 i="0">
                <a:solidFill>
                  <a:srgbClr val="1B2432"/>
                </a:solidFill>
                <a:latin typeface="Calibri"/>
              </a:rPr>
              <a:t>csv, zipfile, xml.etree — XLSX written by hand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475488" y="2999232"/>
            <a:ext cx="4023360" cy="566928"/>
          </a:xfrm>
          <a:prstGeom prst="rect">
            <a:avLst/>
          </a:prstGeom>
          <a:solidFill>
            <a:srgbClr val="F3F7FB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603504" y="3090672"/>
            <a:ext cx="3767328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00386F"/>
                </a:solidFill>
                <a:latin typeface="Calibri"/>
              </a:rPr>
              <a:t>Prototype UI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 i="0">
                <a:solidFill>
                  <a:srgbClr val="1B2432"/>
                </a:solidFill>
                <a:latin typeface="Calibri"/>
              </a:rPr>
              <a:t>Gradio 6 on Hugging Face Spaces (the one dependency)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4645152" y="2999232"/>
            <a:ext cx="4023360" cy="566928"/>
          </a:xfrm>
          <a:prstGeom prst="rect">
            <a:avLst/>
          </a:prstGeom>
          <a:solidFill>
            <a:srgbClr val="F3F7FB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4773168" y="3090672"/>
            <a:ext cx="3767328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00386F"/>
                </a:solidFill>
                <a:latin typeface="Calibri"/>
              </a:rPr>
              <a:t>Optional model layer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 i="0">
                <a:solidFill>
                  <a:srgbClr val="1B2432"/>
                </a:solidFill>
                <a:latin typeface="Calibri"/>
              </a:rPr>
              <a:t>Provider-neutral adapter: Groq, Gemini, Anthropic, OpenAI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475488" y="3657600"/>
            <a:ext cx="4023360" cy="566928"/>
          </a:xfrm>
          <a:prstGeom prst="rect">
            <a:avLst/>
          </a:prstGeom>
          <a:solidFill>
            <a:srgbClr val="F3F7FB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03504" y="3749039"/>
            <a:ext cx="3767328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00386F"/>
                </a:solidFill>
                <a:latin typeface="Calibri"/>
              </a:rPr>
              <a:t>Model governance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 i="0">
                <a:solidFill>
                  <a:srgbClr val="1B2432"/>
                </a:solidFill>
                <a:latin typeface="Calibri"/>
              </a:rPr>
              <a:t>Evidence firewall, redundancy guard, verdict-only auditing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4645152" y="3657600"/>
            <a:ext cx="4023360" cy="566928"/>
          </a:xfrm>
          <a:prstGeom prst="rect">
            <a:avLst/>
          </a:prstGeom>
          <a:solidFill>
            <a:srgbClr val="F3F7FB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773168" y="3749039"/>
            <a:ext cx="3767328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00386F"/>
                </a:solidFill>
                <a:latin typeface="Calibri"/>
              </a:rPr>
              <a:t>Quality assurance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 i="0">
                <a:solidFill>
                  <a:srgbClr val="1B2432"/>
                </a:solidFill>
                <a:latin typeface="Calibri"/>
              </a:rPr>
              <a:t>46 invariant tests; evaluation against the published answer key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75488" y="4462272"/>
            <a:ext cx="819302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1">
                <a:solidFill>
                  <a:srgbClr val="5A6678"/>
                </a:solidFill>
                <a:latin typeface="Calibri"/>
              </a:rPr>
              <a:t>Consequence: a judge can clone the repository and run the whole pipeline with one command, on a machine with no network access.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35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35"/>
          <p:cNvSpPr txBox="1"/>
          <p:nvPr/>
        </p:nvSpPr>
        <p:spPr>
          <a:xfrm>
            <a:off x="158825" y="818550"/>
            <a:ext cx="8845200" cy="63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Estimated implementation cost (optional)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62" name="TextBox 161"/>
          <p:cNvSpPr txBox="1"/>
          <p:nvPr/>
        </p:nvSpPr>
        <p:spPr>
          <a:xfrm>
            <a:off x="475488" y="1645920"/>
            <a:ext cx="819302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00386F"/>
                </a:solidFill>
                <a:latin typeface="Calibri"/>
              </a:rPr>
              <a:t>Running the deterministic pipeline costs nothing but CPU.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475488" y="2157984"/>
            <a:ext cx="8193024" cy="658368"/>
          </a:xfrm>
          <a:prstGeom prst="rect">
            <a:avLst/>
          </a:prstGeom>
          <a:solidFill>
            <a:srgbClr val="F3F7FB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21792" y="2240280"/>
            <a:ext cx="274320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00386F"/>
                </a:solidFill>
                <a:latin typeface="Calibri"/>
              </a:rPr>
              <a:t>Deterministic enrichment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3401568" y="2240280"/>
            <a:ext cx="173736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B5FA5"/>
                </a:solidFill>
                <a:latin typeface="Calibri"/>
              </a:rPr>
              <a:t>₹0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5193792" y="2240280"/>
            <a:ext cx="3328416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1B2432"/>
                </a:solidFill>
                <a:latin typeface="Calibri"/>
              </a:rPr>
              <a:t>No API calls. ~3 s per 1,000 rows on one core; ~1 CPU-hour per 1M SKUs.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475488" y="2889504"/>
            <a:ext cx="8193024" cy="658368"/>
          </a:xfrm>
          <a:prstGeom prst="rect">
            <a:avLst/>
          </a:prstGeom>
          <a:solidFill>
            <a:srgbClr val="F3F7FB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621792" y="2971800"/>
            <a:ext cx="274320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00386F"/>
                </a:solidFill>
                <a:latin typeface="Calibri"/>
              </a:rPr>
              <a:t>Hosting the prototype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3401568" y="2971800"/>
            <a:ext cx="173736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B5FA5"/>
                </a:solidFill>
                <a:latin typeface="Calibri"/>
              </a:rPr>
              <a:t>₹0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5193792" y="2971800"/>
            <a:ext cx="3328416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1B2432"/>
                </a:solidFill>
                <a:latin typeface="Calibri"/>
              </a:rPr>
              <a:t>Hugging Face Spaces free tier.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475488" y="3621024"/>
            <a:ext cx="8193024" cy="658368"/>
          </a:xfrm>
          <a:prstGeom prst="rect">
            <a:avLst/>
          </a:prstGeom>
          <a:solidFill>
            <a:srgbClr val="F3F7FB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21792" y="3703320"/>
            <a:ext cx="274320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00386F"/>
                </a:solidFill>
                <a:latin typeface="Calibri"/>
              </a:rPr>
              <a:t>Optional model pass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3401568" y="3703320"/>
            <a:ext cx="173736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B5FA5"/>
                </a:solidFill>
                <a:latin typeface="Calibri"/>
              </a:rPr>
              <a:t>≈ ₹40–90 per 10,000 rows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5193792" y="3703320"/>
            <a:ext cx="3328416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1B2432"/>
                </a:solidFill>
                <a:latin typeface="Calibri"/>
              </a:rPr>
              <a:t>Only rows the rules cannot resolve are sent — roughly 12% of the catalogue — and results are cached on disk.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475488" y="4352544"/>
            <a:ext cx="8193024" cy="658368"/>
          </a:xfrm>
          <a:prstGeom prst="rect">
            <a:avLst/>
          </a:prstGeom>
          <a:solidFill>
            <a:srgbClr val="F3F7FB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621792" y="4434840"/>
            <a:ext cx="274320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00386F"/>
                </a:solidFill>
                <a:latin typeface="Calibri"/>
              </a:rPr>
              <a:t>Human review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3401568" y="4434840"/>
            <a:ext cx="173736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B5FA5"/>
                </a:solidFill>
                <a:latin typeface="Calibri"/>
              </a:rPr>
              <a:t>Scales with the queue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193792" y="4434840"/>
            <a:ext cx="3328416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1B2432"/>
                </a:solidFill>
                <a:latin typeface="Calibri"/>
              </a:rPr>
              <a:t>77.4% of rows need no human. The queue is ranked, so reviewer time goes to the rows where it pays.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36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36"/>
          <p:cNvSpPr txBox="1"/>
          <p:nvPr/>
        </p:nvSpPr>
        <p:spPr>
          <a:xfrm>
            <a:off x="219900" y="855225"/>
            <a:ext cx="87231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Snapshots of the MVP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168" name="Picture 167" descr="evi_closeu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1517904"/>
            <a:ext cx="8193024" cy="2328184"/>
          </a:xfrm>
          <a:prstGeom prst="rect">
            <a:avLst/>
          </a:prstGeom>
          <a:ln w="9525">
            <a:solidFill>
              <a:srgbClr val="D5DEE8"/>
            </a:solidFill>
          </a:ln>
        </p:spPr>
      </p:pic>
      <p:sp>
        <p:nvSpPr>
          <p:cNvPr id="169" name="TextBox 168"/>
          <p:cNvSpPr txBox="1"/>
          <p:nvPr/>
        </p:nvSpPr>
        <p:spPr>
          <a:xfrm>
            <a:off x="475488" y="3968496"/>
            <a:ext cx="8193024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050" b="1">
                <a:solidFill>
                  <a:srgbClr val="00386F"/>
                </a:solidFill>
                <a:latin typeface="Calibri"/>
              </a:rPr>
              <a:t>Three columns of one row, as the prototype explains them. </a:t>
            </a:r>
            <a:r>
              <a:rPr sz="1050" b="0">
                <a:solidFill>
                  <a:srgbClr val="1B2432"/>
                </a:solidFill>
                <a:latin typeface="Calibri"/>
              </a:rPr>
              <a:t>Each shows the method (rule, registry), the rule id, a confidence, and in the gold quote the exact characters of the input that justified the value — with the column they came from. BRAND_NAME became Milwaukee® because the four characters “milw” appear in Part_Desc and resolve against the approved brand registry; nothing here was generated.</a:t>
            </a:r>
          </a:p>
          <a:p>
            <a:pPr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5A6678"/>
                </a:solidFill>
                <a:latin typeface="Calibri"/>
              </a:rPr>
              <a:t>26,596 populated cells across the catalogue carry provenance of this kind, produced by the pipeline rather than written afterwards as a report. Reproduce this panel by clicking any row at huggingface.co/spaces/jacklachan/unihack.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" name="Google Shape;172;p37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37"/>
          <p:cNvSpPr txBox="1"/>
          <p:nvPr/>
        </p:nvSpPr>
        <p:spPr>
          <a:xfrm>
            <a:off x="109950" y="781900"/>
            <a:ext cx="8894100" cy="69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Additional Details/Future Development (if any)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74" name="TextBox 173"/>
          <p:cNvSpPr txBox="1"/>
          <p:nvPr/>
        </p:nvSpPr>
        <p:spPr>
          <a:xfrm>
            <a:off x="475488" y="1627632"/>
            <a:ext cx="8193024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150" b="1">
                <a:solidFill>
                  <a:srgbClr val="00386F"/>
                </a:solidFill>
                <a:latin typeface="Calibri"/>
              </a:rPr>
              <a:t>What the measurements told us to build next.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 b="1">
                <a:solidFill>
                  <a:srgbClr val="0B5FA5"/>
                </a:solidFill>
                <a:latin typeface="Calibri"/>
              </a:rPr>
              <a:t>Manufacturer retrieval is the real ceiling.  </a:t>
            </a:r>
            <a:r>
              <a:rPr sz="1050" b="0">
                <a:solidFill>
                  <a:srgbClr val="1B2432"/>
                </a:solidFill>
                <a:latin typeface="Calibri"/>
              </a:rPr>
              <a:t>Eleven of the twelve attribute values in the labelled row appear nowhere in its input. No amount of prompting recovers them — they have to be fetched from manufacturer sources and then held to the same evidence rule as everything else. This is the single highest-value extension.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 b="1">
                <a:solidFill>
                  <a:srgbClr val="0B5FA5"/>
                </a:solidFill>
                <a:latin typeface="Calibri"/>
              </a:rPr>
              <a:t>A larger answer key.  </a:t>
            </a:r>
            <a:r>
              <a:rPr sz="1050" b="0">
                <a:solidFill>
                  <a:srgbClr val="1B2432"/>
                </a:solidFill>
                <a:latin typeface="Calibri"/>
              </a:rPr>
              <a:t>Accuracy is 48.0% exact on two labelled rows. That base is too narrow to carry a claim, which is why we report sibling agreement alongside it. With a few hundred labelled rows the same harness reports a real number.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 b="1">
                <a:solidFill>
                  <a:srgbClr val="0B5FA5"/>
                </a:solidFill>
                <a:latin typeface="Calibri"/>
              </a:rPr>
              <a:t>Learning from corrections.  </a:t>
            </a:r>
            <a:r>
              <a:rPr sz="1050" b="0">
                <a:solidFill>
                  <a:srgbClr val="1B2432"/>
                </a:solidFill>
                <a:latin typeface="Calibri"/>
              </a:rPr>
              <a:t>Every reviewer edit is already captured with the fact it overrode. Feeding those back as registry and vocabulary entries makes the deterministic path absorb the reviewer's judgement permanently.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 b="1">
                <a:solidFill>
                  <a:srgbClr val="0B5FA5"/>
                </a:solidFill>
                <a:latin typeface="Calibri"/>
              </a:rPr>
              <a:t>Image and document evidence.  </a:t>
            </a:r>
            <a:r>
              <a:rPr sz="1050" b="0">
                <a:solidFill>
                  <a:srgbClr val="1B2432"/>
                </a:solidFill>
                <a:latin typeface="Calibri"/>
              </a:rPr>
              <a:t>The Fact/Evidence type does not care whether a quote came from text or from a spec sheet. Extending the evidence kind lets datasheets and images become first-class sources without weakening the rule.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" name="Google Shape;178;p38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38"/>
          <p:cNvSpPr txBox="1"/>
          <p:nvPr/>
        </p:nvSpPr>
        <p:spPr>
          <a:xfrm>
            <a:off x="146600" y="843000"/>
            <a:ext cx="8833200" cy="63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Provide links to your: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oogle Sans"/>
              <a:buAutoNum type="arabicPeriod"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GitHub Public Repository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oogle Sans"/>
              <a:buAutoNum type="arabicPeriod"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Demo Video Link (3 Minutes)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Google Sans"/>
              <a:buAutoNum type="arabicPeriod"/>
            </a:pPr>
            <a:r>
              <a:rPr lang="en-GB" sz="1800">
                <a:latin typeface="Google Sans"/>
                <a:ea typeface="Google Sans"/>
                <a:cs typeface="Google Sans"/>
                <a:sym typeface="Google Sans"/>
              </a:rPr>
              <a:t>Working Prototype Link</a:t>
            </a:r>
            <a:endParaRPr sz="1800"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80" name="Rectangle 179"/>
          <p:cNvSpPr/>
          <p:nvPr/>
        </p:nvSpPr>
        <p:spPr>
          <a:xfrm>
            <a:off x="475488" y="2359152"/>
            <a:ext cx="8193024" cy="694944"/>
          </a:xfrm>
          <a:prstGeom prst="rect">
            <a:avLst/>
          </a:prstGeom>
          <a:solidFill>
            <a:srgbClr val="F3F7FB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40080" y="2441448"/>
            <a:ext cx="7863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00" b="1" i="0">
                <a:solidFill>
                  <a:srgbClr val="00386F"/>
                </a:solidFill>
                <a:latin typeface="Calibri"/>
              </a:rPr>
              <a:t>Working prototype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 i="0">
                <a:solidFill>
                  <a:srgbClr val="0B5FA5"/>
                </a:solidFill>
                <a:latin typeface="Calibri"/>
              </a:rPr>
              <a:t>https://huggingface.co/spaces/jacklachan/unihack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5A6678"/>
                </a:solidFill>
                <a:latin typeface="Calibri"/>
              </a:rPr>
              <a:t>Opens already enriched. No login, no key, no setup.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475488" y="3145536"/>
            <a:ext cx="8193024" cy="694944"/>
          </a:xfrm>
          <a:prstGeom prst="rect">
            <a:avLst/>
          </a:prstGeom>
          <a:solidFill>
            <a:srgbClr val="F3F7FB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640080" y="3227832"/>
            <a:ext cx="7863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00" b="1" i="0">
                <a:solidFill>
                  <a:srgbClr val="00386F"/>
                </a:solidFill>
                <a:latin typeface="Calibri"/>
              </a:rPr>
              <a:t>GitHub repository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 i="0">
                <a:solidFill>
                  <a:srgbClr val="0B5FA5"/>
                </a:solidFill>
                <a:latin typeface="Calibri"/>
              </a:rPr>
              <a:t>https://github.com/jacklachan/unihack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5A6678"/>
                </a:solidFill>
                <a:latin typeface="Calibri"/>
              </a:rPr>
              <a:t>Standard library only, 46 invariant tests, clone and run.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75488" y="3931920"/>
            <a:ext cx="8193024" cy="694944"/>
          </a:xfrm>
          <a:prstGeom prst="rect">
            <a:avLst/>
          </a:prstGeom>
          <a:solidFill>
            <a:srgbClr val="F3F7FB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40080" y="4014215"/>
            <a:ext cx="7863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00" b="1" i="0">
                <a:solidFill>
                  <a:srgbClr val="00386F"/>
                </a:solidFill>
                <a:latin typeface="Calibri"/>
              </a:rPr>
              <a:t>Demo video (3 minutes)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 i="0">
                <a:solidFill>
                  <a:srgbClr val="B03021"/>
                </a:solidFill>
                <a:latin typeface="Calibri"/>
              </a:rPr>
              <a:t>&lt;&lt;&lt; PASTE YOUR VIDEO LINK &gt;&gt;&gt;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5A6678"/>
                </a:solidFill>
                <a:latin typeface="Calibri"/>
              </a:rPr>
              <a:t>Set sharing to anyone-with-the-link and check it in a private window.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" name="Google Shape;184;p39" title="Framededede 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