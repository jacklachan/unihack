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1" r:id="rId26"/>
    <p:sldId id="272" r:id="rId27"/>
    <p:sldId id="273" r:id="rId28"/>
    <p:sldId id="270" r:id="rId21"/>
  </p:sldIdLst>
  <p:sldSz cy="5143500" cx="9144000"/>
  <p:notesSz cx="6858000" cy="9144000"/>
  <p:embeddedFontLst>
    <p:embeddedFont>
      <p:font typeface="Google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font" Target="fonts/GoogleSans-regular.fntdata"/><Relationship Id="rId23" Type="http://schemas.openxmlformats.org/officeDocument/2006/relationships/font" Target="fonts/GoogleSans-bold.fntdata"/><Relationship Id="rId24" Type="http://schemas.openxmlformats.org/officeDocument/2006/relationships/font" Target="fonts/GoogleSans-italic.fntdata"/><Relationship Id="rId25" Type="http://schemas.openxmlformats.org/officeDocument/2006/relationships/font" Target="fonts/GoogleSans-boldItalic.fntdata"/><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97113ba4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f97113ba4d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7113ba4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f97113ba4d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97113ba4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f97113ba4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971cbf11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971cbf11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97113ba4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3f97113ba4d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7113ba4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f97113ba4d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97113ba4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f97113ba4d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97113ba4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f97113ba4d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97113ba4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f97113ba4d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7113ba4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f97113ba4d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97113ba4d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f97113ba4d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97113ba4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f97113ba4d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97113ba4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f97113ba4d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97113ba4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f97113ba4d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97113ba4d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f97113ba4d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5"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00" name="Google Shape;100;p25"/>
          <p:cNvSpPr txBox="1"/>
          <p:nvPr/>
        </p:nvSpPr>
        <p:spPr>
          <a:xfrm>
            <a:off x="436625" y="8810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GB" sz="4000" u="none" cap="none" strike="noStrike">
                <a:solidFill>
                  <a:schemeClr val="accent1"/>
                </a:solidFill>
                <a:latin typeface="Google Sans"/>
                <a:ea typeface="Google Sans"/>
                <a:cs typeface="Google Sans"/>
                <a:sym typeface="Google Sans"/>
              </a:rPr>
              <a:t>Guidelines</a:t>
            </a:r>
            <a:endParaRPr b="1" i="0" sz="4000" u="none" cap="none" strike="noStrike">
              <a:solidFill>
                <a:schemeClr val="accent1"/>
              </a:solidFill>
              <a:latin typeface="Google Sans"/>
              <a:ea typeface="Google Sans"/>
              <a:cs typeface="Google Sans"/>
              <a:sym typeface="Google Sans"/>
            </a:endParaRPr>
          </a:p>
        </p:txBody>
      </p:sp>
      <p:sp>
        <p:nvSpPr>
          <p:cNvPr id="101" name="Google Shape;101;p25"/>
          <p:cNvSpPr txBox="1"/>
          <p:nvPr/>
        </p:nvSpPr>
        <p:spPr>
          <a:xfrm>
            <a:off x="609900" y="1711275"/>
            <a:ext cx="7924200" cy="19824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Kindly use the given template for submitting your </a:t>
            </a:r>
            <a:r>
              <a:rPr lang="en-GB" sz="1500">
                <a:solidFill>
                  <a:srgbClr val="434343"/>
                </a:solidFill>
                <a:latin typeface="Google Sans"/>
                <a:ea typeface="Google Sans"/>
                <a:cs typeface="Google Sans"/>
                <a:sym typeface="Google Sans"/>
              </a:rPr>
              <a:t>prototype</a:t>
            </a:r>
            <a:r>
              <a:rPr b="0" i="0" lang="en-GB" sz="1500" u="none" cap="none" strike="noStrike">
                <a:solidFill>
                  <a:srgbClr val="434343"/>
                </a:solidFill>
                <a:latin typeface="Google Sans"/>
                <a:ea typeface="Google Sans"/>
                <a:cs typeface="Google Sans"/>
                <a:sym typeface="Google Sans"/>
              </a:rPr>
              <a:t>(Make a copy of the template)</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One team is only required to submit one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You are welcome to add as many POCs and design concepts to support your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b="0" i="0" sz="1500" u="none" cap="none" strike="noStrike">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6" title="Framedede 2.png"/>
          <p:cNvPicPr preferRelativeResize="0"/>
          <p:nvPr/>
        </p:nvPicPr>
        <p:blipFill rotWithShape="1">
          <a:blip r:embed="rId3">
            <a:alphaModFix/>
          </a:blip>
          <a:srcRect b="0" l="0" r="0" t="0"/>
          <a:stretch/>
        </p:blipFill>
        <p:spPr>
          <a:xfrm>
            <a:off x="0" y="13"/>
            <a:ext cx="9144003" cy="5143476"/>
          </a:xfrm>
          <a:prstGeom prst="rect">
            <a:avLst/>
          </a:prstGeom>
          <a:noFill/>
          <a:ln>
            <a:noFill/>
          </a:ln>
        </p:spPr>
      </p:pic>
      <p:sp>
        <p:nvSpPr>
          <p:cNvPr id="107" name="Google Shape;107;p26"/>
          <p:cNvSpPr txBox="1"/>
          <p:nvPr/>
        </p:nvSpPr>
        <p:spPr>
          <a:xfrm>
            <a:off x="186200" y="3221675"/>
            <a:ext cx="8760000" cy="16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Team 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name:  </a:t>
            </a:r>
            <a:r>
              <a:rPr b="1" sz="1800">
                <a:latin typeface="Google Sans"/>
              </a:rPr>
              <a:t>Lord of the Ping</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leader name:  </a:t>
            </a:r>
            <a:r>
              <a:rPr b="1" sz="1800">
                <a:latin typeface="Google Sans"/>
              </a:rPr>
              <a:t>L Mohit Jain</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7"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13" name="Google Shape;113;p27"/>
          <p:cNvSpPr txBox="1"/>
          <p:nvPr/>
        </p:nvSpPr>
        <p:spPr>
          <a:xfrm>
            <a:off x="390000" y="775625"/>
            <a:ext cx="8364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i="0" lang="en-GB" sz="1800" u="none" cap="none" strike="noStrike">
                <a:solidFill>
                  <a:srgbClr val="000000"/>
                </a:solidFill>
                <a:latin typeface="Google Sans"/>
                <a:ea typeface="Google Sans"/>
                <a:cs typeface="Google Sans"/>
                <a:sym typeface="Google Sans"/>
              </a:rPr>
              <a:t>Brief about your solution</a:t>
            </a:r>
            <a:endParaRPr i="0" sz="1800" u="none" cap="none" strike="noStrike">
              <a:solidFill>
                <a:srgbClr val="000000"/>
              </a:solidFill>
              <a:latin typeface="Google Sans"/>
              <a:ea typeface="Google Sans"/>
              <a:cs typeface="Google Sans"/>
              <a:sym typeface="Google Sans"/>
            </a:endParaRPr>
          </a:p>
        </p:txBody>
      </p:sp>
      <p:sp>
        <p:nvSpPr>
          <p:cNvPr id="114" name="TextBox 113"/>
          <p:cNvSpPr txBox="1"/>
          <p:nvPr/>
        </p:nvSpPr>
        <p:spPr>
          <a:xfrm>
            <a:off x="475488" y="1444752"/>
            <a:ext cx="8193024" cy="1051560"/>
          </a:xfrm>
          <a:prstGeom prst="rect">
            <a:avLst/>
          </a:prstGeom>
          <a:noFill/>
        </p:spPr>
        <p:txBody>
          <a:bodyPr wrap="square" lIns="0" rIns="0" tIns="0" bIns="0">
            <a:spAutoFit/>
          </a:bodyPr>
          <a:lstStyle/>
          <a:p>
            <a:pPr>
              <a:lnSpc>
                <a:spcPct val="118000"/>
              </a:lnSpc>
              <a:spcAft>
                <a:spcPts val="700"/>
              </a:spcAft>
            </a:pPr>
            <a:r>
              <a:rPr sz="1350" b="0">
                <a:solidFill>
                  <a:srgbClr val="1B2432"/>
                </a:solidFill>
                <a:latin typeface="Calibri"/>
              </a:rPr>
              <a:t>CALIPER turns a messy supplier row into Unilog's </a:t>
            </a:r>
            <a:r>
              <a:rPr sz="1350" b="1">
                <a:solidFill>
                  <a:srgbClr val="1B2432"/>
                </a:solidFill>
                <a:latin typeface="Calibri"/>
              </a:rPr>
              <a:t>252-column delivery format</a:t>
            </a:r>
            <a:r>
              <a:rPr sz="1350" b="0">
                <a:solidFill>
                  <a:srgbClr val="1B2432"/>
                </a:solidFill>
                <a:latin typeface="Calibri"/>
              </a:rPr>
              <a:t> — and can show you why it wrote every single cell.</a:t>
            </a:r>
          </a:p>
          <a:p>
            <a:pPr>
              <a:lnSpc>
                <a:spcPct val="118000"/>
              </a:lnSpc>
              <a:spcAft>
                <a:spcPts val="0"/>
              </a:spcAft>
            </a:pPr>
            <a:r>
              <a:rPr sz="1150" b="0">
                <a:solidFill>
                  <a:srgbClr val="1B2432"/>
                </a:solidFill>
                <a:latin typeface="Calibri"/>
              </a:rPr>
              <a:t>Most pipelines hand the row to a language model and validate what comes back. CALIPER makes that structurally impossible. Every extractor — rules, the brand registry, the taxonomy, family consensus and the model — writes into one typed </a:t>
            </a:r>
            <a:r>
              <a:rPr sz="1150" b="1">
                <a:solidFill>
                  <a:srgbClr val="00386F"/>
                </a:solidFill>
                <a:latin typeface="Calibri"/>
              </a:rPr>
              <a:t>Product Fact Graph, where a fact without evidence is rejected at insertion</a:t>
            </a:r>
            <a:r>
              <a:rPr sz="1150" b="0">
                <a:solidFill>
                  <a:srgbClr val="1B2432"/>
                </a:solidFill>
                <a:latin typeface="Calibri"/>
              </a:rPr>
              <a:t>. Composition, validation and export only ever read from it. The model is never permitted to write an output cell: it may propose a fact that quotes the source, or judge a fact that already exists.</a:t>
            </a:r>
          </a:p>
        </p:txBody>
      </p:sp>
      <p:sp>
        <p:nvSpPr>
          <p:cNvPr id="115" name="TextBox 114"/>
          <p:cNvSpPr txBox="1"/>
          <p:nvPr/>
        </p:nvSpPr>
        <p:spPr>
          <a:xfrm>
            <a:off x="475488" y="2788920"/>
            <a:ext cx="2011680" cy="658368"/>
          </a:xfrm>
          <a:prstGeom prst="rect">
            <a:avLst/>
          </a:prstGeom>
          <a:noFill/>
        </p:spPr>
        <p:txBody>
          <a:bodyPr wrap="square" lIns="0" rIns="0" tIns="0" bIns="0">
            <a:spAutoFit/>
          </a:bodyPr>
          <a:lstStyle/>
          <a:p>
            <a:pPr algn="l">
              <a:spcAft>
                <a:spcPts val="0"/>
              </a:spcAft>
            </a:pPr>
            <a:r>
              <a:rPr sz="2500" b="1" i="0">
                <a:solidFill>
                  <a:srgbClr val="0B5FA5"/>
                </a:solidFill>
                <a:latin typeface="Calibri"/>
              </a:rPr>
              <a:t>1,000 → 252</a:t>
            </a:r>
          </a:p>
          <a:p>
            <a:pPr algn="l">
              <a:spcAft>
                <a:spcPts val="0"/>
              </a:spcAft>
            </a:pPr>
            <a:r>
              <a:rPr sz="950" b="0" i="0">
                <a:solidFill>
                  <a:srgbClr val="5A6678"/>
                </a:solidFill>
                <a:latin typeface="Calibri"/>
              </a:rPr>
              <a:t>rows to columns, in ~3 seconds</a:t>
            </a:r>
          </a:p>
        </p:txBody>
      </p:sp>
      <p:sp>
        <p:nvSpPr>
          <p:cNvPr id="116" name="TextBox 115"/>
          <p:cNvSpPr txBox="1"/>
          <p:nvPr/>
        </p:nvSpPr>
        <p:spPr>
          <a:xfrm>
            <a:off x="2523744" y="2788920"/>
            <a:ext cx="2011680" cy="658368"/>
          </a:xfrm>
          <a:prstGeom prst="rect">
            <a:avLst/>
          </a:prstGeom>
          <a:noFill/>
        </p:spPr>
        <p:txBody>
          <a:bodyPr wrap="square" lIns="0" rIns="0" tIns="0" bIns="0">
            <a:spAutoFit/>
          </a:bodyPr>
          <a:lstStyle/>
          <a:p>
            <a:pPr algn="l">
              <a:spcAft>
                <a:spcPts val="0"/>
              </a:spcAft>
            </a:pPr>
            <a:r>
              <a:rPr sz="2500" b="1" i="0">
                <a:solidFill>
                  <a:srgbClr val="0B5FA5"/>
                </a:solidFill>
                <a:latin typeface="Calibri"/>
              </a:rPr>
              <a:t>100%</a:t>
            </a:r>
          </a:p>
          <a:p>
            <a:pPr algn="l">
              <a:spcAft>
                <a:spcPts val="0"/>
              </a:spcAft>
            </a:pPr>
            <a:r>
              <a:rPr sz="950" b="0" i="0">
                <a:solidFill>
                  <a:srgbClr val="5A6678"/>
                </a:solidFill>
                <a:latin typeface="Calibri"/>
              </a:rPr>
              <a:t>INVOICE_DESC within 40 characters</a:t>
            </a:r>
          </a:p>
        </p:txBody>
      </p:sp>
      <p:sp>
        <p:nvSpPr>
          <p:cNvPr id="117" name="TextBox 116"/>
          <p:cNvSpPr txBox="1"/>
          <p:nvPr/>
        </p:nvSpPr>
        <p:spPr>
          <a:xfrm>
            <a:off x="4572000" y="2788920"/>
            <a:ext cx="2011680" cy="658368"/>
          </a:xfrm>
          <a:prstGeom prst="rect">
            <a:avLst/>
          </a:prstGeom>
          <a:noFill/>
        </p:spPr>
        <p:txBody>
          <a:bodyPr wrap="square" lIns="0" rIns="0" tIns="0" bIns="0">
            <a:spAutoFit/>
          </a:bodyPr>
          <a:lstStyle/>
          <a:p>
            <a:pPr algn="l">
              <a:spcAft>
                <a:spcPts val="0"/>
              </a:spcAft>
            </a:pPr>
            <a:r>
              <a:rPr sz="2500" b="1" i="0">
                <a:solidFill>
                  <a:srgbClr val="0B5FA5"/>
                </a:solidFill>
                <a:latin typeface="Calibri"/>
              </a:rPr>
              <a:t>99.5%</a:t>
            </a:r>
          </a:p>
          <a:p>
            <a:pPr algn="l">
              <a:spcAft>
                <a:spcPts val="0"/>
              </a:spcAft>
            </a:pPr>
            <a:r>
              <a:rPr sz="950" b="0" i="0">
                <a:solidFill>
                  <a:srgbClr val="5A6678"/>
                </a:solidFill>
                <a:latin typeface="Calibri"/>
              </a:rPr>
              <a:t>sibling agreement, 1,516 comparisons</a:t>
            </a:r>
          </a:p>
        </p:txBody>
      </p:sp>
      <p:sp>
        <p:nvSpPr>
          <p:cNvPr id="118" name="TextBox 117"/>
          <p:cNvSpPr txBox="1"/>
          <p:nvPr/>
        </p:nvSpPr>
        <p:spPr>
          <a:xfrm>
            <a:off x="6620256" y="2788920"/>
            <a:ext cx="2011680" cy="658368"/>
          </a:xfrm>
          <a:prstGeom prst="rect">
            <a:avLst/>
          </a:prstGeom>
          <a:noFill/>
        </p:spPr>
        <p:txBody>
          <a:bodyPr wrap="square" lIns="0" rIns="0" tIns="0" bIns="0">
            <a:spAutoFit/>
          </a:bodyPr>
          <a:lstStyle/>
          <a:p>
            <a:pPr algn="l">
              <a:spcAft>
                <a:spcPts val="0"/>
              </a:spcAft>
            </a:pPr>
            <a:r>
              <a:rPr sz="2500" b="1" i="0">
                <a:solidFill>
                  <a:srgbClr val="0B5FA5"/>
                </a:solidFill>
                <a:latin typeface="Calibri"/>
              </a:rPr>
              <a:t>26,596</a:t>
            </a:r>
          </a:p>
          <a:p>
            <a:pPr algn="l">
              <a:spcAft>
                <a:spcPts val="0"/>
              </a:spcAft>
            </a:pPr>
            <a:r>
              <a:rPr sz="950" b="0" i="0">
                <a:solidFill>
                  <a:srgbClr val="5A6678"/>
                </a:solidFill>
                <a:latin typeface="Calibri"/>
              </a:rPr>
              <a:t>cells carrying their own evidence</a:t>
            </a:r>
          </a:p>
        </p:txBody>
      </p:sp>
      <p:sp>
        <p:nvSpPr>
          <p:cNvPr id="119" name="TextBox 118"/>
          <p:cNvSpPr txBox="1"/>
          <p:nvPr/>
        </p:nvSpPr>
        <p:spPr>
          <a:xfrm>
            <a:off x="475488" y="3611880"/>
            <a:ext cx="8193024" cy="914400"/>
          </a:xfrm>
          <a:prstGeom prst="rect">
            <a:avLst/>
          </a:prstGeom>
          <a:noFill/>
        </p:spPr>
        <p:txBody>
          <a:bodyPr wrap="square" lIns="0" rIns="0" tIns="0" bIns="0">
            <a:spAutoFit/>
          </a:bodyPr>
          <a:lstStyle/>
          <a:p>
            <a:pPr>
              <a:lnSpc>
                <a:spcPct val="118000"/>
              </a:lnSpc>
              <a:spcAft>
                <a:spcPts val="0"/>
              </a:spcAft>
            </a:pPr>
            <a:r>
              <a:rPr sz="1150" b="1">
                <a:solidFill>
                  <a:srgbClr val="00386F"/>
                </a:solidFill>
                <a:latin typeface="Calibri"/>
              </a:rPr>
              <a:t>Runs with no API key and no third-party packages. </a:t>
            </a:r>
            <a:r>
              <a:rPr sz="1150" b="0">
                <a:solidFill>
                  <a:srgbClr val="1B2432"/>
                </a:solidFill>
                <a:latin typeface="Calibri"/>
              </a:rPr>
              <a:t>A judge opens the link and 1,000 real industrial SKUs are already enriched; clicking any row reveals the rule that produced each value and the exact characters of the input that justified it.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8"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19" name="Google Shape;119;p28"/>
          <p:cNvSpPr txBox="1"/>
          <p:nvPr>
            <p:ph type="ctrTitle"/>
          </p:nvPr>
        </p:nvSpPr>
        <p:spPr>
          <a:xfrm>
            <a:off x="224133" y="743250"/>
            <a:ext cx="85206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200"/>
              <a:t>1. How does your solution enrich minimal product information?</a:t>
            </a:r>
            <a:endParaRPr sz="1200"/>
          </a:p>
        </p:txBody>
      </p:sp>
      <p:sp>
        <p:nvSpPr>
          <p:cNvPr id="120" name="TextBox 119"/>
          <p:cNvSpPr txBox="1"/>
          <p:nvPr/>
        </p:nvSpPr>
        <p:spPr>
          <a:xfrm>
            <a:off x="475488" y="1243584"/>
            <a:ext cx="8193024" cy="3200400"/>
          </a:xfrm>
          <a:prstGeom prst="rect">
            <a:avLst/>
          </a:prstGeom>
          <a:noFill/>
        </p:spPr>
        <p:txBody>
          <a:bodyPr wrap="square" lIns="0" rIns="0" tIns="0" bIns="0">
            <a:spAutoFit/>
          </a:bodyPr>
          <a:lstStyle/>
          <a:p>
            <a:pPr>
              <a:lnSpc>
                <a:spcPct val="118000"/>
              </a:lnSpc>
              <a:spcAft>
                <a:spcPts val="800"/>
              </a:spcAft>
            </a:pPr>
            <a:r>
              <a:rPr sz="1150" b="1">
                <a:solidFill>
                  <a:srgbClr val="00386F"/>
                </a:solidFill>
                <a:latin typeface="Calibri"/>
              </a:rPr>
              <a:t>Input is six columns</a:t>
            </a:r>
            <a:r>
              <a:rPr sz="1150" b="0">
                <a:solidFill>
                  <a:srgbClr val="1B2432"/>
                </a:solidFill>
                <a:latin typeface="Calibri"/>
              </a:rPr>
              <a:t> — part number, description, three inconsistent brand fields and a manufacturer string. From that, CALIPER derives facts and never invents them:</a:t>
            </a:r>
          </a:p>
          <a:p>
            <a:pPr>
              <a:lnSpc>
                <a:spcPct val="118000"/>
              </a:lnSpc>
              <a:spcAft>
                <a:spcPts val="500"/>
              </a:spcAft>
            </a:pPr>
            <a:r>
              <a:rPr sz="1050" b="1">
                <a:solidFill>
                  <a:srgbClr val="0B5FA5"/>
                </a:solidFill>
                <a:latin typeface="Calibri"/>
              </a:rPr>
              <a:t>Parse, don't guess.  </a:t>
            </a:r>
            <a:r>
              <a:rPr sz="1050" b="0">
                <a:solidFill>
                  <a:srgbClr val="1B2432"/>
                </a:solidFill>
                <a:latin typeface="Calibri"/>
              </a:rPr>
              <a:t>Dimensions, grits, wattages, counts and materials are lifted from the description by typed rules. Each becomes a fact carrying the exact substring it came from: a description reading 6 in x .045 in x 7/8 in yields three separate measurements, each traceable.</a:t>
            </a:r>
          </a:p>
          <a:p>
            <a:pPr>
              <a:lnSpc>
                <a:spcPct val="118000"/>
              </a:lnSpc>
              <a:spcAft>
                <a:spcPts val="500"/>
              </a:spcAft>
            </a:pPr>
            <a:r>
              <a:rPr sz="1050" b="1">
                <a:solidFill>
                  <a:srgbClr val="0B5FA5"/>
                </a:solidFill>
                <a:latin typeface="Calibri"/>
              </a:rPr>
              <a:t>Resolve identity against a registry.  </a:t>
            </a:r>
            <a:r>
              <a:rPr sz="1050" b="0">
                <a:solidFill>
                  <a:srgbClr val="1B2432"/>
                </a:solidFill>
                <a:latin typeface="Calibri"/>
              </a:rPr>
              <a:t>"Milw" becomes Milwaukee®; distributor noise like "(4031)" is stripped. Where brand and manufacturer disagree, that is reported as a defect in the supplier's data rather than silently overwritten.</a:t>
            </a:r>
          </a:p>
          <a:p>
            <a:pPr>
              <a:lnSpc>
                <a:spcPct val="118000"/>
              </a:lnSpc>
              <a:spcAft>
                <a:spcPts val="500"/>
              </a:spcAft>
            </a:pPr>
            <a:r>
              <a:rPr sz="1050" b="1">
                <a:solidFill>
                  <a:srgbClr val="0B5FA5"/>
                </a:solidFill>
                <a:latin typeface="Calibri"/>
              </a:rPr>
              <a:t>Borrow from siblings, with corroboration.  </a:t>
            </a:r>
            <a:r>
              <a:rPr sz="1050" b="0">
                <a:solidFill>
                  <a:srgbClr val="1B2432"/>
                </a:solidFill>
                <a:latin typeface="Calibri"/>
              </a:rPr>
              <a:t>Products are clustered into families by part-number and description shape. A fact missing on one row is filled only when at least two agreeing siblings supply it — and disagreement lowers confidence.</a:t>
            </a:r>
          </a:p>
          <a:p>
            <a:pPr>
              <a:lnSpc>
                <a:spcPct val="118000"/>
              </a:lnSpc>
              <a:spcAft>
                <a:spcPts val="500"/>
              </a:spcAft>
            </a:pPr>
            <a:r>
              <a:rPr sz="1050" b="1">
                <a:solidFill>
                  <a:srgbClr val="0B5FA5"/>
                </a:solidFill>
                <a:latin typeface="Calibri"/>
              </a:rPr>
              <a:t>Induce the category rulebook from the data.  </a:t>
            </a:r>
            <a:r>
              <a:rPr sz="1050" b="0">
                <a:solidFill>
                  <a:srgbClr val="1B2432"/>
                </a:solidFill>
                <a:latin typeface="Calibri"/>
              </a:rPr>
              <a:t>Which attributes a category has, and which are filterable, is derived from the rows themselves with a fill rate behind every attribute — the work normally done by hand for tens of thousands of categories.</a:t>
            </a:r>
          </a:p>
          <a:p>
            <a:pPr>
              <a:lnSpc>
                <a:spcPct val="118000"/>
              </a:lnSpc>
              <a:spcAft>
                <a:spcPts val="500"/>
              </a:spcAft>
            </a:pPr>
            <a:r>
              <a:rPr sz="1050" b="1">
                <a:solidFill>
                  <a:srgbClr val="0B5FA5"/>
                </a:solidFill>
                <a:latin typeface="Calibri"/>
              </a:rPr>
              <a:t>Compose to the format, not to a prompt.  </a:t>
            </a:r>
            <a:r>
              <a:rPr sz="1050" b="0">
                <a:solidFill>
                  <a:srgbClr val="1B2432"/>
                </a:solidFill>
                <a:latin typeface="Calibri"/>
              </a:rPr>
              <a:t>Five descriptions are generated from the same facts under their own length and casing rules, so they cannot contradict each other.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9"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25" name="Google Shape;125;p29"/>
          <p:cNvSpPr txBox="1"/>
          <p:nvPr/>
        </p:nvSpPr>
        <p:spPr>
          <a:xfrm>
            <a:off x="183250" y="818550"/>
            <a:ext cx="8784300" cy="141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Opportunities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different is it from any of the other existing ideas?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will it be able to solve the problem statemen</a:t>
            </a:r>
            <a:r>
              <a:rPr lang="en-GB" sz="1800">
                <a:latin typeface="Google Sans"/>
                <a:ea typeface="Google Sans"/>
                <a:cs typeface="Google Sans"/>
                <a:sym typeface="Google Sans"/>
              </a:rPr>
              <a:t>t given</a:t>
            </a:r>
            <a:r>
              <a:rPr b="0" i="0" lang="en-GB" sz="1800" u="none" cap="none" strike="noStrike">
                <a:solidFill>
                  <a:srgbClr val="000000"/>
                </a:solidFill>
                <a:latin typeface="Google Sans"/>
                <a:ea typeface="Google Sans"/>
                <a:cs typeface="Google Sans"/>
                <a:sym typeface="Google Sans"/>
              </a:rPr>
              <a:t>?</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USP of the proposed solution</a:t>
            </a:r>
            <a:endParaRPr sz="1800">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Google Sans"/>
              <a:ea typeface="Google Sans"/>
              <a:cs typeface="Google Sans"/>
              <a:sym typeface="Google Sans"/>
            </a:endParaRPr>
          </a:p>
        </p:txBody>
      </p:sp>
      <p:sp>
        <p:nvSpPr>
          <p:cNvPr id="126" name="TextBox 125"/>
          <p:cNvSpPr txBox="1"/>
          <p:nvPr/>
        </p:nvSpPr>
        <p:spPr>
          <a:xfrm>
            <a:off x="475488" y="2221992"/>
            <a:ext cx="8193024" cy="2743200"/>
          </a:xfrm>
          <a:prstGeom prst="rect">
            <a:avLst/>
          </a:prstGeom>
          <a:noFill/>
        </p:spPr>
        <p:txBody>
          <a:bodyPr wrap="square" lIns="0" rIns="0" tIns="0" bIns="0">
            <a:spAutoFit/>
          </a:bodyPr>
          <a:lstStyle/>
          <a:p>
            <a:pPr algn="l">
              <a:spcAft>
                <a:spcPts val="300"/>
              </a:spcAft>
            </a:pPr>
            <a:r>
              <a:rPr sz="1200" b="1" i="0">
                <a:solidFill>
                  <a:srgbClr val="00386F"/>
                </a:solidFill>
                <a:latin typeface="Calibri"/>
              </a:rPr>
              <a:t>How different is it from existing ideas?</a:t>
            </a:r>
          </a:p>
          <a:p>
            <a:pPr algn="l">
              <a:lnSpc>
                <a:spcPct val="116000"/>
              </a:lnSpc>
              <a:spcAft>
                <a:spcPts val="1100"/>
              </a:spcAft>
            </a:pPr>
            <a:r>
              <a:rPr sz="1050" b="0" i="0">
                <a:solidFill>
                  <a:srgbClr val="1B2432"/>
                </a:solidFill>
                <a:latin typeface="Calibri"/>
              </a:rPr>
              <a:t>Every other approach we found prompts a model and validates afterwards, so a wrong value has already been written. CALIPER inverts the control flow: the model cannot reach an output cell at all. It proposes facts that must quote the source, or audits facts that already exist — and an unquoted proposal is discarded, not corrected.</a:t>
            </a:r>
          </a:p>
          <a:p>
            <a:pPr algn="l">
              <a:spcAft>
                <a:spcPts val="300"/>
              </a:spcAft>
            </a:pPr>
            <a:r>
              <a:rPr sz="1200" b="1" i="0">
                <a:solidFill>
                  <a:srgbClr val="00386F"/>
                </a:solidFill>
                <a:latin typeface="Calibri"/>
              </a:rPr>
              <a:t>How does it solve the problem statement?</a:t>
            </a:r>
          </a:p>
          <a:p>
            <a:pPr algn="l">
              <a:lnSpc>
                <a:spcPct val="116000"/>
              </a:lnSpc>
              <a:spcAft>
                <a:spcPts val="1100"/>
              </a:spcAft>
            </a:pPr>
            <a:r>
              <a:rPr sz="1050" b="0" i="0">
                <a:solidFill>
                  <a:srgbClr val="1B2432"/>
                </a:solidFill>
                <a:latin typeface="Calibri"/>
              </a:rPr>
              <a:t>It produces all 252 delivery columns from six, at ~3 seconds per 1,000 rows, with 77.4% of rows ready to publish unattended and the remainder routed to a review queue ranked by how much that review is worth. It also reports defects it finds in the supplier's own catalogue.</a:t>
            </a:r>
          </a:p>
          <a:p>
            <a:pPr algn="l">
              <a:spcAft>
                <a:spcPts val="300"/>
              </a:spcAft>
            </a:pPr>
            <a:r>
              <a:rPr sz="1200" b="1" i="0">
                <a:solidFill>
                  <a:srgbClr val="00386F"/>
                </a:solidFill>
                <a:latin typeface="Calibri"/>
              </a:rPr>
              <a:t>USP of the proposed solution</a:t>
            </a:r>
          </a:p>
          <a:p>
            <a:pPr algn="l">
              <a:lnSpc>
                <a:spcPct val="116000"/>
              </a:lnSpc>
              <a:spcAft>
                <a:spcPts val="1100"/>
              </a:spcAft>
            </a:pPr>
            <a:r>
              <a:rPr sz="1050" b="0" i="0">
                <a:solidFill>
                  <a:srgbClr val="1B2432"/>
                </a:solidFill>
                <a:latin typeface="Calibri"/>
              </a:rPr>
              <a:t>Auditability as an architectural guarantee, not a report. 26,596 populated cells each carry a rule id, a confidence and the source characters behind them. Because two labelled rows cannot support a claim, we also publish a label-free measure — sibling agreement across all 1,000 rows, 99.5% over 1,516 comparisons.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30"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31" name="Google Shape;131;p30"/>
          <p:cNvSpPr txBox="1"/>
          <p:nvPr/>
        </p:nvSpPr>
        <p:spPr>
          <a:xfrm>
            <a:off x="195475" y="855225"/>
            <a:ext cx="8698800" cy="54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List of features offered by the solution</a:t>
            </a:r>
            <a:endParaRPr b="0" i="0" sz="1800" u="none" cap="none" strike="noStrike">
              <a:solidFill>
                <a:srgbClr val="000000"/>
              </a:solidFill>
              <a:latin typeface="Google Sans"/>
              <a:ea typeface="Google Sans"/>
              <a:cs typeface="Google Sans"/>
              <a:sym typeface="Google Sans"/>
            </a:endParaRPr>
          </a:p>
        </p:txBody>
      </p:sp>
      <p:sp>
        <p:nvSpPr>
          <p:cNvPr id="132" name="Rectangle 131"/>
          <p:cNvSpPr/>
          <p:nvPr/>
        </p:nvSpPr>
        <p:spPr>
          <a:xfrm>
            <a:off x="475488" y="1719072"/>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585216" y="1819656"/>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Evidence panel</a:t>
            </a:r>
          </a:p>
          <a:p>
            <a:pPr algn="l">
              <a:lnSpc>
                <a:spcPct val="110000"/>
              </a:lnSpc>
              <a:spcAft>
                <a:spcPts val="0"/>
              </a:spcAft>
            </a:pPr>
            <a:r>
              <a:rPr sz="850" b="0" i="0">
                <a:solidFill>
                  <a:srgbClr val="1B2432"/>
                </a:solidFill>
                <a:latin typeface="Calibri"/>
              </a:rPr>
              <a:t>Click a row: every populated column shows its method, rule id, confidence and the source substring.</a:t>
            </a:r>
          </a:p>
        </p:txBody>
      </p:sp>
      <p:sp>
        <p:nvSpPr>
          <p:cNvPr id="134" name="Rectangle 133"/>
          <p:cNvSpPr/>
          <p:nvPr/>
        </p:nvSpPr>
        <p:spPr>
          <a:xfrm>
            <a:off x="3255264" y="1719072"/>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364992" y="1819656"/>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Character-budget solver</a:t>
            </a:r>
          </a:p>
          <a:p>
            <a:pPr algn="l">
              <a:lnSpc>
                <a:spcPct val="110000"/>
              </a:lnSpc>
              <a:spcAft>
                <a:spcPts val="0"/>
              </a:spcAft>
            </a:pPr>
            <a:r>
              <a:rPr sz="850" b="0" i="0">
                <a:solidFill>
                  <a:srgbClr val="1B2432"/>
                </a:solidFill>
                <a:latin typeface="Calibri"/>
              </a:rPr>
              <a:t>INVOICE_DESC's 40-character upper-case ceiling solved as a budget problem. 100% compliant by construction.</a:t>
            </a:r>
          </a:p>
        </p:txBody>
      </p:sp>
      <p:sp>
        <p:nvSpPr>
          <p:cNvPr id="136" name="Rectangle 135"/>
          <p:cNvSpPr/>
          <p:nvPr/>
        </p:nvSpPr>
        <p:spPr>
          <a:xfrm>
            <a:off x="6035040" y="1719072"/>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144768" y="1819656"/>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Schema detection</a:t>
            </a:r>
          </a:p>
          <a:p>
            <a:pPr algn="l">
              <a:lnSpc>
                <a:spcPct val="110000"/>
              </a:lnSpc>
              <a:spcAft>
                <a:spcPts val="0"/>
              </a:spcAft>
            </a:pPr>
            <a:r>
              <a:rPr sz="850" b="0" i="0">
                <a:solidFill>
                  <a:srgbClr val="1B2432"/>
                </a:solidFill>
                <a:latin typeface="Calibri"/>
              </a:rPr>
              <a:t>Column roles are detected, not assumed — the same pipeline runs on a file whose headers it has never seen.</a:t>
            </a:r>
          </a:p>
        </p:txBody>
      </p:sp>
      <p:sp>
        <p:nvSpPr>
          <p:cNvPr id="138" name="Rectangle 137"/>
          <p:cNvSpPr/>
          <p:nvPr/>
        </p:nvSpPr>
        <p:spPr>
          <a:xfrm>
            <a:off x="475488" y="2670048"/>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85216" y="2770632"/>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Category-spec induction</a:t>
            </a:r>
          </a:p>
          <a:p>
            <a:pPr algn="l">
              <a:lnSpc>
                <a:spcPct val="110000"/>
              </a:lnSpc>
              <a:spcAft>
                <a:spcPts val="0"/>
              </a:spcAft>
            </a:pPr>
            <a:r>
              <a:rPr sz="850" b="0" i="0">
                <a:solidFill>
                  <a:srgbClr val="1B2432"/>
                </a:solidFill>
                <a:latin typeface="Calibri"/>
              </a:rPr>
              <a:t>Unilog-style category rulebooks derived from the rows, with a fill rate behind every attribute.</a:t>
            </a:r>
          </a:p>
        </p:txBody>
      </p:sp>
      <p:sp>
        <p:nvSpPr>
          <p:cNvPr id="140" name="Rectangle 139"/>
          <p:cNvSpPr/>
          <p:nvPr/>
        </p:nvSpPr>
        <p:spPr>
          <a:xfrm>
            <a:off x="3255264" y="2670048"/>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364992" y="2770632"/>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Family consensus + anomaly flags</a:t>
            </a:r>
          </a:p>
          <a:p>
            <a:pPr algn="l">
              <a:lnSpc>
                <a:spcPct val="110000"/>
              </a:lnSpc>
              <a:spcAft>
                <a:spcPts val="0"/>
              </a:spcAft>
            </a:pPr>
            <a:r>
              <a:rPr sz="850" b="0" i="0">
                <a:solidFill>
                  <a:srgbClr val="1B2432"/>
                </a:solidFill>
                <a:latin typeface="Calibri"/>
              </a:rPr>
              <a:t>Gaps filled only from corroborating siblings; rows that break their family pattern are surfaced.</a:t>
            </a:r>
          </a:p>
        </p:txBody>
      </p:sp>
      <p:sp>
        <p:nvSpPr>
          <p:cNvPr id="142" name="Rectangle 141"/>
          <p:cNvSpPr/>
          <p:nvPr/>
        </p:nvSpPr>
        <p:spPr>
          <a:xfrm>
            <a:off x="6035040" y="2670048"/>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144768" y="2770632"/>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Physical guardrails</a:t>
            </a:r>
          </a:p>
          <a:p>
            <a:pPr algn="l">
              <a:lnSpc>
                <a:spcPct val="110000"/>
              </a:lnSpc>
              <a:spcAft>
                <a:spcPts val="0"/>
              </a:spcAft>
            </a:pPr>
            <a:r>
              <a:rPr sz="850" b="0" i="0">
                <a:solidFill>
                  <a:srgbClr val="1B2432"/>
                </a:solidFill>
                <a:latin typeface="Calibri"/>
              </a:rPr>
              <a:t>Domain ranges and dimensional coherence. These caught a bug in our own parser.</a:t>
            </a:r>
          </a:p>
        </p:txBody>
      </p:sp>
      <p:sp>
        <p:nvSpPr>
          <p:cNvPr id="144" name="Rectangle 143"/>
          <p:cNvSpPr/>
          <p:nvPr/>
        </p:nvSpPr>
        <p:spPr>
          <a:xfrm>
            <a:off x="475488" y="3621024"/>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85216" y="3721608"/>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Findings on the source data</a:t>
            </a:r>
          </a:p>
          <a:p>
            <a:pPr algn="l">
              <a:lnSpc>
                <a:spcPct val="110000"/>
              </a:lnSpc>
              <a:spcAft>
                <a:spcPts val="0"/>
              </a:spcAft>
            </a:pPr>
            <a:r>
              <a:rPr sz="850" b="0" i="0">
                <a:solidFill>
                  <a:srgbClr val="1B2432"/>
                </a:solidFill>
                <a:latin typeface="Calibri"/>
              </a:rPr>
              <a:t>Brand/manufacturer conflicts and unresolvable rows reported rather than absorbed.</a:t>
            </a:r>
          </a:p>
        </p:txBody>
      </p:sp>
      <p:sp>
        <p:nvSpPr>
          <p:cNvPr id="146" name="Rectangle 145"/>
          <p:cNvSpPr/>
          <p:nvPr/>
        </p:nvSpPr>
        <p:spPr>
          <a:xfrm>
            <a:off x="3255264" y="3621024"/>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364992" y="3721608"/>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Review queue</a:t>
            </a:r>
          </a:p>
          <a:p>
            <a:pPr algn="l">
              <a:lnSpc>
                <a:spcPct val="110000"/>
              </a:lnSpc>
              <a:spcAft>
                <a:spcPts val="0"/>
              </a:spcAft>
            </a:pPr>
            <a:r>
              <a:rPr sz="850" b="0" i="0">
                <a:solidFill>
                  <a:srgbClr val="1B2432"/>
                </a:solidFill>
                <a:latin typeface="Calibri"/>
              </a:rPr>
              <a:t>The rows a human should look at, ranked by the value of looking.</a:t>
            </a:r>
          </a:p>
        </p:txBody>
      </p:sp>
      <p:sp>
        <p:nvSpPr>
          <p:cNvPr id="148" name="Rectangle 147"/>
          <p:cNvSpPr/>
          <p:nvPr/>
        </p:nvSpPr>
        <p:spPr>
          <a:xfrm>
            <a:off x="6035040" y="3621024"/>
            <a:ext cx="2633472" cy="822960"/>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144768" y="3721608"/>
            <a:ext cx="2414015" cy="621792"/>
          </a:xfrm>
          <a:prstGeom prst="rect">
            <a:avLst/>
          </a:prstGeom>
          <a:noFill/>
        </p:spPr>
        <p:txBody>
          <a:bodyPr wrap="square" lIns="0" rIns="0" tIns="0" bIns="0">
            <a:spAutoFit/>
          </a:bodyPr>
          <a:lstStyle/>
          <a:p>
            <a:pPr algn="l">
              <a:lnSpc>
                <a:spcPct val="100000"/>
              </a:lnSpc>
              <a:spcAft>
                <a:spcPts val="200"/>
              </a:spcAft>
            </a:pPr>
            <a:r>
              <a:rPr sz="1000" b="1" i="0">
                <a:solidFill>
                  <a:srgbClr val="00386F"/>
                </a:solidFill>
                <a:latin typeface="Calibri"/>
              </a:rPr>
              <a:t>Optional model, firewalled</a:t>
            </a:r>
          </a:p>
          <a:p>
            <a:pPr algn="l">
              <a:lnSpc>
                <a:spcPct val="110000"/>
              </a:lnSpc>
              <a:spcAft>
                <a:spcPts val="0"/>
              </a:spcAft>
            </a:pPr>
            <a:r>
              <a:rPr sz="850" b="0" i="0">
                <a:solidFill>
                  <a:srgbClr val="1B2432"/>
                </a:solidFill>
                <a:latin typeface="Calibri"/>
              </a:rPr>
              <a:t>Bring your own key for extra recall. Held in memory only; proposals without a verbatim quote are discarded.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31"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37" name="Google Shape;137;p31"/>
          <p:cNvSpPr txBox="1"/>
          <p:nvPr/>
        </p:nvSpPr>
        <p:spPr>
          <a:xfrm>
            <a:off x="195475" y="830775"/>
            <a:ext cx="87720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Process flow diagram or Use-case diagram</a:t>
            </a:r>
            <a:endParaRPr b="0" i="0" sz="1800" u="none" cap="none" strike="noStrike">
              <a:solidFill>
                <a:srgbClr val="000000"/>
              </a:solidFill>
              <a:latin typeface="Google Sans"/>
              <a:ea typeface="Google Sans"/>
              <a:cs typeface="Google Sans"/>
              <a:sym typeface="Google Sans"/>
            </a:endParaRPr>
          </a:p>
        </p:txBody>
      </p:sp>
      <p:sp>
        <p:nvSpPr>
          <p:cNvPr id="138" name="Rectangle 137"/>
          <p:cNvSpPr/>
          <p:nvPr/>
        </p:nvSpPr>
        <p:spPr>
          <a:xfrm>
            <a:off x="530352" y="1682496"/>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21792" y="1773936"/>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1 · Ingest</a:t>
            </a:r>
          </a:p>
          <a:p>
            <a:pPr algn="ctr">
              <a:lnSpc>
                <a:spcPct val="100000"/>
              </a:lnSpc>
              <a:spcAft>
                <a:spcPts val="0"/>
              </a:spcAft>
            </a:pPr>
            <a:r>
              <a:rPr sz="850" b="0" i="0">
                <a:solidFill>
                  <a:srgbClr val="5A6678"/>
                </a:solidFill>
                <a:latin typeface="Calibri"/>
              </a:rPr>
              <a:t>CSV or XLSX read
with the standard library</a:t>
            </a:r>
          </a:p>
        </p:txBody>
      </p:sp>
      <p:sp>
        <p:nvSpPr>
          <p:cNvPr id="140" name="Right Arrow 139"/>
          <p:cNvSpPr/>
          <p:nvPr/>
        </p:nvSpPr>
        <p:spPr>
          <a:xfrm>
            <a:off x="3099816" y="2002536"/>
            <a:ext cx="219456"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3401568" y="1682496"/>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493008" y="1773936"/>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2 · Detect schema</a:t>
            </a:r>
          </a:p>
          <a:p>
            <a:pPr algn="ctr">
              <a:lnSpc>
                <a:spcPct val="100000"/>
              </a:lnSpc>
              <a:spcAft>
                <a:spcPts val="0"/>
              </a:spcAft>
            </a:pPr>
            <a:r>
              <a:rPr sz="850" b="0" i="0">
                <a:solidFill>
                  <a:srgbClr val="5A6678"/>
                </a:solidFill>
                <a:latin typeface="Calibri"/>
              </a:rPr>
              <a:t>Column roles inferred
from headers and values</a:t>
            </a:r>
          </a:p>
        </p:txBody>
      </p:sp>
      <p:sp>
        <p:nvSpPr>
          <p:cNvPr id="143" name="Right Arrow 142"/>
          <p:cNvSpPr/>
          <p:nvPr/>
        </p:nvSpPr>
        <p:spPr>
          <a:xfrm>
            <a:off x="5971032" y="2002536"/>
            <a:ext cx="219456"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6272784" y="1682496"/>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364224" y="1773936"/>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3 · Extract facts</a:t>
            </a:r>
          </a:p>
          <a:p>
            <a:pPr algn="ctr">
              <a:lnSpc>
                <a:spcPct val="100000"/>
              </a:lnSpc>
              <a:spcAft>
                <a:spcPts val="0"/>
              </a:spcAft>
            </a:pPr>
            <a:r>
              <a:rPr sz="850" b="0" i="0">
                <a:solidFill>
                  <a:srgbClr val="5A6678"/>
                </a:solidFill>
                <a:latin typeface="Calibri"/>
              </a:rPr>
              <a:t>Typed rules, registry, taxonomy.
No evidence, no fact</a:t>
            </a:r>
          </a:p>
        </p:txBody>
      </p:sp>
      <p:sp>
        <p:nvSpPr>
          <p:cNvPr id="146" name="Rectangle 145"/>
          <p:cNvSpPr/>
          <p:nvPr/>
        </p:nvSpPr>
        <p:spPr>
          <a:xfrm>
            <a:off x="530352" y="2980944"/>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21792" y="3072384"/>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4 · Corroborate</a:t>
            </a:r>
          </a:p>
          <a:p>
            <a:pPr algn="ctr">
              <a:lnSpc>
                <a:spcPct val="100000"/>
              </a:lnSpc>
              <a:spcAft>
                <a:spcPts val="0"/>
              </a:spcAft>
            </a:pPr>
            <a:r>
              <a:rPr sz="850" b="0" i="0">
                <a:solidFill>
                  <a:srgbClr val="5A6678"/>
                </a:solidFill>
                <a:latin typeface="Calibri"/>
              </a:rPr>
              <a:t>Family clustering; gaps filled
only by agreeing siblings</a:t>
            </a:r>
          </a:p>
        </p:txBody>
      </p:sp>
      <p:sp>
        <p:nvSpPr>
          <p:cNvPr id="148" name="Right Arrow 147"/>
          <p:cNvSpPr/>
          <p:nvPr/>
        </p:nvSpPr>
        <p:spPr>
          <a:xfrm>
            <a:off x="3099816" y="3300984"/>
            <a:ext cx="219456"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3401568" y="2980944"/>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493008" y="3072384"/>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5 · Compose</a:t>
            </a:r>
          </a:p>
          <a:p>
            <a:pPr algn="ctr">
              <a:lnSpc>
                <a:spcPct val="100000"/>
              </a:lnSpc>
              <a:spcAft>
                <a:spcPts val="0"/>
              </a:spcAft>
            </a:pPr>
            <a:r>
              <a:rPr sz="850" b="0" i="0">
                <a:solidFill>
                  <a:srgbClr val="5A6678"/>
                </a:solidFill>
                <a:latin typeface="Calibri"/>
              </a:rPr>
              <a:t>Five descriptions from one
fact set, under their limits</a:t>
            </a:r>
          </a:p>
        </p:txBody>
      </p:sp>
      <p:sp>
        <p:nvSpPr>
          <p:cNvPr id="151" name="Right Arrow 150"/>
          <p:cNvSpPr/>
          <p:nvPr/>
        </p:nvSpPr>
        <p:spPr>
          <a:xfrm>
            <a:off x="5971032" y="3300984"/>
            <a:ext cx="219456"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6272784" y="2980944"/>
            <a:ext cx="2487168" cy="78638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364224" y="3072384"/>
            <a:ext cx="2304288" cy="603503"/>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6 · Validate &amp; route</a:t>
            </a:r>
          </a:p>
          <a:p>
            <a:pPr algn="ctr">
              <a:lnSpc>
                <a:spcPct val="100000"/>
              </a:lnSpc>
              <a:spcAft>
                <a:spcPts val="0"/>
              </a:spcAft>
            </a:pPr>
            <a:r>
              <a:rPr sz="850" b="0" i="0">
                <a:solidFill>
                  <a:srgbClr val="5A6678"/>
                </a:solidFill>
                <a:latin typeface="Calibri"/>
              </a:rPr>
              <a:t>Guardrails, then ready
or review queue</a:t>
            </a:r>
          </a:p>
        </p:txBody>
      </p:sp>
      <p:sp>
        <p:nvSpPr>
          <p:cNvPr id="154" name="Down Arrow 153"/>
          <p:cNvSpPr/>
          <p:nvPr/>
        </p:nvSpPr>
        <p:spPr>
          <a:xfrm>
            <a:off x="7443216" y="2596896"/>
            <a:ext cx="146304" cy="274320"/>
          </a:xfrm>
          <a:prstGeom prst="down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75488" y="4206240"/>
            <a:ext cx="8193024" cy="685800"/>
          </a:xfrm>
          <a:prstGeom prst="rect">
            <a:avLst/>
          </a:prstGeom>
          <a:noFill/>
        </p:spPr>
        <p:txBody>
          <a:bodyPr wrap="square" lIns="0" rIns="0" tIns="0" bIns="0">
            <a:spAutoFit/>
          </a:bodyPr>
          <a:lstStyle/>
          <a:p>
            <a:pPr>
              <a:lnSpc>
                <a:spcPct val="118000"/>
              </a:lnSpc>
              <a:spcAft>
                <a:spcPts val="0"/>
              </a:spcAft>
            </a:pPr>
            <a:r>
              <a:rPr sz="1050" b="1">
                <a:solidFill>
                  <a:srgbClr val="00386F"/>
                </a:solidFill>
                <a:latin typeface="Calibri"/>
              </a:rPr>
              <a:t>The one-way rule: </a:t>
            </a:r>
            <a:r>
              <a:rPr sz="1050" b="0">
                <a:solidFill>
                  <a:srgbClr val="1B2432"/>
                </a:solidFill>
                <a:latin typeface="Calibri"/>
              </a:rPr>
              <a:t>steps 1–4 write facts into the graph. Steps 5–6 only read from it. A model may join step 3 as a proposer whose quote is checked against the source, or step 6 as an auditor — it is never given write access to an output column.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32"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43" name="Google Shape;143;p32"/>
          <p:cNvSpPr txBox="1"/>
          <p:nvPr/>
        </p:nvSpPr>
        <p:spPr>
          <a:xfrm>
            <a:off x="207700" y="879650"/>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Wireframes/Mock diagrams of the proposed solution (optional)</a:t>
            </a:r>
            <a:endParaRPr b="0" i="0" sz="1800" u="none" cap="none" strike="noStrike">
              <a:solidFill>
                <a:srgbClr val="000000"/>
              </a:solidFill>
              <a:latin typeface="Google Sans"/>
              <a:ea typeface="Google Sans"/>
              <a:cs typeface="Google Sans"/>
              <a:sym typeface="Google Sans"/>
            </a:endParaRPr>
          </a:p>
        </p:txBody>
      </p:sp>
      <p:pic>
        <p:nvPicPr>
          <p:cNvPr id="144" name="Picture 143" descr="panel_top.png"/>
          <p:cNvPicPr>
            <a:picLocks noChangeAspect="1"/>
          </p:cNvPicPr>
          <p:nvPr/>
        </p:nvPicPr>
        <p:blipFill>
          <a:blip r:embed="rId4"/>
          <a:stretch>
            <a:fillRect/>
          </a:stretch>
        </p:blipFill>
        <p:spPr>
          <a:xfrm>
            <a:off x="504799" y="1536192"/>
            <a:ext cx="3983025" cy="2889503"/>
          </a:xfrm>
          <a:prstGeom prst="rect">
            <a:avLst/>
          </a:prstGeom>
          <a:ln w="9525">
            <a:solidFill>
              <a:srgbClr val="D5DEE8"/>
            </a:solidFill>
          </a:ln>
        </p:spPr>
      </p:pic>
      <p:sp>
        <p:nvSpPr>
          <p:cNvPr id="145" name="TextBox 144"/>
          <p:cNvSpPr txBox="1"/>
          <p:nvPr/>
        </p:nvSpPr>
        <p:spPr>
          <a:xfrm>
            <a:off x="4736592" y="1572768"/>
            <a:ext cx="3931920" cy="2834640"/>
          </a:xfrm>
          <a:prstGeom prst="rect">
            <a:avLst/>
          </a:prstGeom>
          <a:noFill/>
        </p:spPr>
        <p:txBody>
          <a:bodyPr wrap="square" lIns="0" rIns="0" tIns="0" bIns="0">
            <a:spAutoFit/>
          </a:bodyPr>
          <a:lstStyle/>
          <a:p>
            <a:pPr algn="l">
              <a:spcAft>
                <a:spcPts val="800"/>
              </a:spcAft>
            </a:pPr>
            <a:r>
              <a:rPr sz="1200" b="1" i="0">
                <a:solidFill>
                  <a:srgbClr val="00386F"/>
                </a:solidFill>
                <a:latin typeface="Calibri"/>
              </a:rPr>
              <a:t>The interface, in the order a judge meets it</a:t>
            </a:r>
          </a:p>
          <a:p>
            <a:pPr>
              <a:lnSpc>
                <a:spcPct val="118000"/>
              </a:lnSpc>
              <a:spcAft>
                <a:spcPts val="700"/>
              </a:spcAft>
            </a:pPr>
            <a:r>
              <a:rPr sz="950" b="1">
                <a:solidFill>
                  <a:srgbClr val="0B5FA5"/>
                </a:solidFill>
                <a:latin typeface="Calibri"/>
              </a:rPr>
              <a:t>It is already running.  </a:t>
            </a:r>
            <a:r>
              <a:rPr sz="950" b="0">
                <a:solidFill>
                  <a:srgbClr val="1B2432"/>
                </a:solidFill>
                <a:latin typeface="Calibri"/>
              </a:rPr>
              <a:t>The page enriches 1,000 SKUs on load. No button, no key, no setup — the first ten seconds show output, not a form.</a:t>
            </a:r>
          </a:p>
          <a:p>
            <a:pPr>
              <a:lnSpc>
                <a:spcPct val="118000"/>
              </a:lnSpc>
              <a:spcAft>
                <a:spcPts val="700"/>
              </a:spcAft>
            </a:pPr>
            <a:r>
              <a:rPr sz="950" b="1">
                <a:solidFill>
                  <a:srgbClr val="0B5FA5"/>
                </a:solidFill>
                <a:latin typeface="Calibri"/>
              </a:rPr>
              <a:t>Upload, or use the sample.  </a:t>
            </a:r>
            <a:r>
              <a:rPr sz="950" b="0">
                <a:solidFill>
                  <a:srgbClr val="1B2432"/>
                </a:solidFill>
                <a:latin typeface="Calibri"/>
              </a:rPr>
              <a:t>Drop in any catalogue CSV. Column roles are detected and printed back.</a:t>
            </a:r>
          </a:p>
          <a:p>
            <a:pPr>
              <a:lnSpc>
                <a:spcPct val="118000"/>
              </a:lnSpc>
              <a:spcAft>
                <a:spcPts val="700"/>
              </a:spcAft>
            </a:pPr>
            <a:r>
              <a:rPr sz="950" b="1">
                <a:solidFill>
                  <a:srgbClr val="0B5FA5"/>
                </a:solidFill>
                <a:latin typeface="Calibri"/>
              </a:rPr>
              <a:t>The model is opt-in.  </a:t>
            </a:r>
            <a:r>
              <a:rPr sz="950" b="0">
                <a:solidFill>
                  <a:srgbClr val="1B2432"/>
                </a:solidFill>
                <a:latin typeface="Calibri"/>
              </a:rPr>
              <a:t>Ticking the box reveals a provider and a key field. Left alone, the deterministic path still fills all 252 columns.</a:t>
            </a:r>
          </a:p>
          <a:p>
            <a:pPr>
              <a:lnSpc>
                <a:spcPct val="118000"/>
              </a:lnSpc>
              <a:spcAft>
                <a:spcPts val="700"/>
              </a:spcAft>
            </a:pPr>
            <a:r>
              <a:rPr sz="950" b="1">
                <a:solidFill>
                  <a:srgbClr val="0B5FA5"/>
                </a:solidFill>
                <a:latin typeface="Calibri"/>
              </a:rPr>
              <a:t>Then: catalogue, evidence, findings, induced specs, downloads.  </a:t>
            </a:r>
            <a:r>
              <a:rPr sz="950" b="0">
                <a:solidFill>
                  <a:srgbClr val="1B2432"/>
                </a:solidFill>
                <a:latin typeface="Calibri"/>
              </a:rPr>
              <a:t>Five tabs, in that order — the evidence panel sits directly under the table so one click explains a row.</a:t>
            </a:r>
          </a:p>
        </p:txBody>
      </p:sp>
      <p:sp>
        <p:nvSpPr>
          <p:cNvPr id="146" name="TextBox 145"/>
          <p:cNvSpPr txBox="1"/>
          <p:nvPr/>
        </p:nvSpPr>
        <p:spPr>
          <a:xfrm>
            <a:off x="475488" y="4480560"/>
            <a:ext cx="8193024" cy="274320"/>
          </a:xfrm>
          <a:prstGeom prst="rect">
            <a:avLst/>
          </a:prstGeom>
          <a:noFill/>
        </p:spPr>
        <p:txBody>
          <a:bodyPr wrap="square" lIns="0" rIns="0" tIns="0" bIns="0">
            <a:spAutoFit/>
          </a:bodyPr>
          <a:lstStyle/>
          <a:p>
            <a:pPr algn="l">
              <a:spcAft>
                <a:spcPts val="0"/>
              </a:spcAft>
            </a:pPr>
            <a:r>
              <a:rPr sz="900" b="0" i="1">
                <a:solidFill>
                  <a:srgbClr val="5A6678"/>
                </a:solidFill>
                <a:latin typeface="Calibri"/>
              </a:rPr>
              <a:t>Screenshot of the running prototype, light theme; the page also renders correctly in dark mode.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3"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49" name="Google Shape;149;p33"/>
          <p:cNvSpPr txBox="1"/>
          <p:nvPr/>
        </p:nvSpPr>
        <p:spPr>
          <a:xfrm>
            <a:off x="171050" y="867425"/>
            <a:ext cx="88209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Architecture diagram of the proposed solution</a:t>
            </a:r>
            <a:endParaRPr b="0" i="0" sz="1800" u="none" cap="none" strike="noStrike">
              <a:solidFill>
                <a:srgbClr val="000000"/>
              </a:solidFill>
              <a:latin typeface="Google Sans"/>
              <a:ea typeface="Google Sans"/>
              <a:cs typeface="Google Sans"/>
              <a:sym typeface="Google Sans"/>
            </a:endParaRPr>
          </a:p>
        </p:txBody>
      </p:sp>
      <p:sp>
        <p:nvSpPr>
          <p:cNvPr id="150" name="Rectangle 149"/>
          <p:cNvSpPr/>
          <p:nvPr/>
        </p:nvSpPr>
        <p:spPr>
          <a:xfrm>
            <a:off x="475488" y="1682496"/>
            <a:ext cx="2103120"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66928" y="1773936"/>
            <a:ext cx="1920239"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Rule extractors</a:t>
            </a:r>
          </a:p>
        </p:txBody>
      </p:sp>
      <p:sp>
        <p:nvSpPr>
          <p:cNvPr id="152" name="Rectangle 151"/>
          <p:cNvSpPr/>
          <p:nvPr/>
        </p:nvSpPr>
        <p:spPr>
          <a:xfrm>
            <a:off x="475488" y="2066544"/>
            <a:ext cx="2103120"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66928" y="2157984"/>
            <a:ext cx="1920239"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Brand / manufacturer registry</a:t>
            </a:r>
          </a:p>
        </p:txBody>
      </p:sp>
      <p:sp>
        <p:nvSpPr>
          <p:cNvPr id="154" name="Rectangle 153"/>
          <p:cNvSpPr/>
          <p:nvPr/>
        </p:nvSpPr>
        <p:spPr>
          <a:xfrm>
            <a:off x="475488" y="2450592"/>
            <a:ext cx="2103120"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66928" y="2542032"/>
            <a:ext cx="1920239"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Taxonomy + induced specs</a:t>
            </a:r>
          </a:p>
        </p:txBody>
      </p:sp>
      <p:sp>
        <p:nvSpPr>
          <p:cNvPr id="156" name="Rectangle 155"/>
          <p:cNvSpPr/>
          <p:nvPr/>
        </p:nvSpPr>
        <p:spPr>
          <a:xfrm>
            <a:off x="475488" y="2834640"/>
            <a:ext cx="2103120"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66928" y="2926080"/>
            <a:ext cx="1920239"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Family consensus</a:t>
            </a:r>
          </a:p>
        </p:txBody>
      </p:sp>
      <p:sp>
        <p:nvSpPr>
          <p:cNvPr id="158" name="Rectangle 157"/>
          <p:cNvSpPr/>
          <p:nvPr/>
        </p:nvSpPr>
        <p:spPr>
          <a:xfrm>
            <a:off x="475488" y="3218688"/>
            <a:ext cx="2103120" cy="310896"/>
          </a:xfrm>
          <a:prstGeom prst="rect">
            <a:avLst/>
          </a:prstGeom>
          <a:solidFill>
            <a:srgbClr val="FDF4E2"/>
          </a:solidFill>
          <a:ln w="9525">
            <a:solidFill>
              <a:srgbClr val="E0C9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66928" y="3310128"/>
            <a:ext cx="1920239"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8A6417"/>
                </a:solidFill>
                <a:latin typeface="Calibri"/>
              </a:rPr>
              <a:t>Model proposer (quotes only)</a:t>
            </a:r>
          </a:p>
        </p:txBody>
      </p:sp>
      <p:sp>
        <p:nvSpPr>
          <p:cNvPr id="160" name="TextBox 159"/>
          <p:cNvSpPr txBox="1"/>
          <p:nvPr/>
        </p:nvSpPr>
        <p:spPr>
          <a:xfrm>
            <a:off x="475488" y="1444752"/>
            <a:ext cx="2103120" cy="219456"/>
          </a:xfrm>
          <a:prstGeom prst="rect">
            <a:avLst/>
          </a:prstGeom>
          <a:noFill/>
        </p:spPr>
        <p:txBody>
          <a:bodyPr wrap="square" lIns="0" rIns="0" tIns="0" bIns="0">
            <a:spAutoFit/>
          </a:bodyPr>
          <a:lstStyle/>
          <a:p>
            <a:pPr algn="ctr">
              <a:spcAft>
                <a:spcPts val="0"/>
              </a:spcAft>
            </a:pPr>
            <a:r>
              <a:rPr sz="850" b="1" i="0">
                <a:solidFill>
                  <a:srgbClr val="5A6678"/>
                </a:solidFill>
                <a:latin typeface="Calibri"/>
              </a:rPr>
              <a:t>WRITE</a:t>
            </a:r>
          </a:p>
        </p:txBody>
      </p:sp>
      <p:sp>
        <p:nvSpPr>
          <p:cNvPr id="161" name="Right Arrow 160"/>
          <p:cNvSpPr/>
          <p:nvPr/>
        </p:nvSpPr>
        <p:spPr>
          <a:xfrm>
            <a:off x="2633472" y="1764792"/>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ight Arrow 161"/>
          <p:cNvSpPr/>
          <p:nvPr/>
        </p:nvSpPr>
        <p:spPr>
          <a:xfrm>
            <a:off x="2633472" y="2148840"/>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ight Arrow 162"/>
          <p:cNvSpPr/>
          <p:nvPr/>
        </p:nvSpPr>
        <p:spPr>
          <a:xfrm>
            <a:off x="2633472" y="2532888"/>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ight Arrow 163"/>
          <p:cNvSpPr/>
          <p:nvPr/>
        </p:nvSpPr>
        <p:spPr>
          <a:xfrm>
            <a:off x="2633472" y="2916936"/>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ight Arrow 164"/>
          <p:cNvSpPr/>
          <p:nvPr/>
        </p:nvSpPr>
        <p:spPr>
          <a:xfrm>
            <a:off x="2633472" y="3300984"/>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2962656" y="1682496"/>
            <a:ext cx="2834640" cy="1847088"/>
          </a:xfrm>
          <a:prstGeom prst="rect">
            <a:avLst/>
          </a:prstGeom>
          <a:solidFill>
            <a:srgbClr val="ECF3FA"/>
          </a:solidFill>
          <a:ln w="9525">
            <a:solidFill>
              <a:srgbClr val="0038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3072384" y="1810512"/>
            <a:ext cx="2615184" cy="1609344"/>
          </a:xfrm>
          <a:prstGeom prst="rect">
            <a:avLst/>
          </a:prstGeom>
          <a:noFill/>
        </p:spPr>
        <p:txBody>
          <a:bodyPr wrap="square" lIns="0" rIns="0" tIns="0" bIns="0">
            <a:spAutoFit/>
          </a:bodyPr>
          <a:lstStyle/>
          <a:p>
            <a:pPr algn="ctr">
              <a:spcAft>
                <a:spcPts val="400"/>
              </a:spcAft>
            </a:pPr>
            <a:r>
              <a:rPr sz="1150" b="1" i="0">
                <a:solidFill>
                  <a:srgbClr val="00386F"/>
                </a:solidFill>
                <a:latin typeface="Calibri"/>
              </a:rPr>
              <a:t>PRODUCT FACT GRAPH</a:t>
            </a:r>
          </a:p>
          <a:p>
            <a:pPr algn="ctr">
              <a:lnSpc>
                <a:spcPct val="110000"/>
              </a:lnSpc>
              <a:spcAft>
                <a:spcPts val="700"/>
              </a:spcAft>
            </a:pPr>
            <a:r>
              <a:rPr sz="900" b="0" i="0">
                <a:solidFill>
                  <a:srgbClr val="1B2432"/>
                </a:solidFill>
                <a:latin typeface="Calibri"/>
              </a:rPr>
              <a:t>Typed facts, each with evidence,
confidence and provenance</a:t>
            </a:r>
          </a:p>
          <a:p>
            <a:pPr algn="ctr">
              <a:lnSpc>
                <a:spcPct val="110000"/>
              </a:lnSpc>
              <a:spcAft>
                <a:spcPts val="700"/>
              </a:spcAft>
            </a:pPr>
            <a:r>
              <a:rPr sz="950" b="1" i="0">
                <a:solidFill>
                  <a:srgbClr val="B03021"/>
                </a:solidFill>
                <a:latin typeface="Calibri"/>
              </a:rPr>
              <a:t>A fact without evidence is
rejected at insertion</a:t>
            </a:r>
          </a:p>
          <a:p>
            <a:pPr algn="ctr">
              <a:lnSpc>
                <a:spcPct val="110000"/>
              </a:lnSpc>
              <a:spcAft>
                <a:spcPts val="0"/>
              </a:spcAft>
            </a:pPr>
            <a:r>
              <a:rPr sz="900" b="0" i="0">
                <a:solidFill>
                  <a:srgbClr val="5A6678"/>
                </a:solidFill>
                <a:latin typeface="Calibri"/>
              </a:rPr>
              <a:t>Agreement raises confidence.
Conflict lowers it.</a:t>
            </a:r>
          </a:p>
        </p:txBody>
      </p:sp>
      <p:sp>
        <p:nvSpPr>
          <p:cNvPr id="168" name="Right Arrow 167"/>
          <p:cNvSpPr/>
          <p:nvPr/>
        </p:nvSpPr>
        <p:spPr>
          <a:xfrm>
            <a:off x="5852160" y="1956816"/>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ight Arrow 168"/>
          <p:cNvSpPr/>
          <p:nvPr/>
        </p:nvSpPr>
        <p:spPr>
          <a:xfrm>
            <a:off x="5852160" y="2340864"/>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ight Arrow 169"/>
          <p:cNvSpPr/>
          <p:nvPr/>
        </p:nvSpPr>
        <p:spPr>
          <a:xfrm>
            <a:off x="5852160" y="2724912"/>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ight Arrow 170"/>
          <p:cNvSpPr/>
          <p:nvPr/>
        </p:nvSpPr>
        <p:spPr>
          <a:xfrm>
            <a:off x="5852160" y="3108960"/>
            <a:ext cx="274320" cy="146304"/>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181344" y="1901952"/>
            <a:ext cx="2139696"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272783" y="1993392"/>
            <a:ext cx="1956815"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Description composer</a:t>
            </a:r>
          </a:p>
        </p:txBody>
      </p:sp>
      <p:sp>
        <p:nvSpPr>
          <p:cNvPr id="174" name="Rectangle 173"/>
          <p:cNvSpPr/>
          <p:nvPr/>
        </p:nvSpPr>
        <p:spPr>
          <a:xfrm>
            <a:off x="6181344" y="2286000"/>
            <a:ext cx="2139696"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272783" y="2377440"/>
            <a:ext cx="1956815"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Validator + guardrails</a:t>
            </a:r>
          </a:p>
        </p:txBody>
      </p:sp>
      <p:sp>
        <p:nvSpPr>
          <p:cNvPr id="176" name="Rectangle 175"/>
          <p:cNvSpPr/>
          <p:nvPr/>
        </p:nvSpPr>
        <p:spPr>
          <a:xfrm>
            <a:off x="6181344" y="2670048"/>
            <a:ext cx="2139696"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72783" y="2761488"/>
            <a:ext cx="1956815"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252-column exporter</a:t>
            </a:r>
          </a:p>
        </p:txBody>
      </p:sp>
      <p:sp>
        <p:nvSpPr>
          <p:cNvPr id="178" name="Rectangle 177"/>
          <p:cNvSpPr/>
          <p:nvPr/>
        </p:nvSpPr>
        <p:spPr>
          <a:xfrm>
            <a:off x="6181344" y="3054096"/>
            <a:ext cx="2139696" cy="310896"/>
          </a:xfrm>
          <a:prstGeom prst="rect">
            <a:avLst/>
          </a:prstGeom>
          <a:solidFill>
            <a:srgbClr val="FFFFFF"/>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6272783" y="3145536"/>
            <a:ext cx="1956815" cy="128016"/>
          </a:xfrm>
          <a:prstGeom prst="rect">
            <a:avLst/>
          </a:prstGeom>
          <a:noFill/>
        </p:spPr>
        <p:txBody>
          <a:bodyPr wrap="square" lIns="0" rIns="0" tIns="0" bIns="0" anchor="ctr">
            <a:spAutoFit/>
          </a:bodyPr>
          <a:lstStyle/>
          <a:p>
            <a:pPr algn="ctr">
              <a:lnSpc>
                <a:spcPct val="100000"/>
              </a:lnSpc>
              <a:spcAft>
                <a:spcPts val="100"/>
              </a:spcAft>
            </a:pPr>
            <a:r>
              <a:rPr sz="1050" b="1" i="0">
                <a:solidFill>
                  <a:srgbClr val="00386F"/>
                </a:solidFill>
                <a:latin typeface="Calibri"/>
              </a:rPr>
              <a:t>Evidence panel / review queue</a:t>
            </a:r>
          </a:p>
        </p:txBody>
      </p:sp>
      <p:sp>
        <p:nvSpPr>
          <p:cNvPr id="180" name="TextBox 179"/>
          <p:cNvSpPr txBox="1"/>
          <p:nvPr/>
        </p:nvSpPr>
        <p:spPr>
          <a:xfrm>
            <a:off x="6181344" y="1444752"/>
            <a:ext cx="2139696" cy="219456"/>
          </a:xfrm>
          <a:prstGeom prst="rect">
            <a:avLst/>
          </a:prstGeom>
          <a:noFill/>
        </p:spPr>
        <p:txBody>
          <a:bodyPr wrap="square" lIns="0" rIns="0" tIns="0" bIns="0">
            <a:spAutoFit/>
          </a:bodyPr>
          <a:lstStyle/>
          <a:p>
            <a:pPr algn="ctr">
              <a:spcAft>
                <a:spcPts val="0"/>
              </a:spcAft>
            </a:pPr>
            <a:r>
              <a:rPr sz="850" b="1" i="0">
                <a:solidFill>
                  <a:srgbClr val="5A6678"/>
                </a:solidFill>
                <a:latin typeface="Calibri"/>
              </a:rPr>
              <a:t>READ ONLY</a:t>
            </a:r>
          </a:p>
        </p:txBody>
      </p:sp>
      <p:sp>
        <p:nvSpPr>
          <p:cNvPr id="181" name="TextBox 180"/>
          <p:cNvSpPr txBox="1"/>
          <p:nvPr/>
        </p:nvSpPr>
        <p:spPr>
          <a:xfrm>
            <a:off x="475488" y="3712464"/>
            <a:ext cx="8193024" cy="777240"/>
          </a:xfrm>
          <a:prstGeom prst="rect">
            <a:avLst/>
          </a:prstGeom>
          <a:noFill/>
        </p:spPr>
        <p:txBody>
          <a:bodyPr wrap="square" lIns="0" rIns="0" tIns="0" bIns="0">
            <a:spAutoFit/>
          </a:bodyPr>
          <a:lstStyle/>
          <a:p>
            <a:pPr>
              <a:lnSpc>
                <a:spcPct val="118000"/>
              </a:lnSpc>
              <a:spcAft>
                <a:spcPts val="0"/>
              </a:spcAft>
            </a:pPr>
            <a:r>
              <a:rPr sz="1050" b="1">
                <a:solidFill>
                  <a:srgbClr val="00386F"/>
                </a:solidFill>
                <a:latin typeface="Calibri"/>
              </a:rPr>
              <a:t>The boundary is one-way and that is the whole design. </a:t>
            </a:r>
            <a:r>
              <a:rPr sz="1050" b="0">
                <a:solidFill>
                  <a:srgbClr val="1B2432"/>
                </a:solidFill>
                <a:latin typeface="Calibri"/>
              </a:rPr>
              <a:t>Readers cannot create values; writers cannot skip evidence. A model sits on the left as a proposer whose quote is verified against the source, and on the right as an auditor returning supported / unsupported / unknown — in neither role can it originate a cell.</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4"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55" name="Google Shape;155;p34"/>
          <p:cNvSpPr txBox="1"/>
          <p:nvPr/>
        </p:nvSpPr>
        <p:spPr>
          <a:xfrm>
            <a:off x="158825" y="855225"/>
            <a:ext cx="8784300" cy="11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Technologies used in the solution</a:t>
            </a:r>
            <a:endParaRPr b="0" i="0" sz="1200" u="none" cap="none" strike="noStrike">
              <a:solidFill>
                <a:srgbClr val="000000"/>
              </a:solidFill>
              <a:latin typeface="Google Sans"/>
              <a:ea typeface="Google Sans"/>
              <a:cs typeface="Google Sans"/>
              <a:sym typeface="Google Sans"/>
            </a:endParaRPr>
          </a:p>
        </p:txBody>
      </p:sp>
      <p:sp>
        <p:nvSpPr>
          <p:cNvPr id="156" name="TextBox 155"/>
          <p:cNvSpPr txBox="1"/>
          <p:nvPr/>
        </p:nvSpPr>
        <p:spPr>
          <a:xfrm>
            <a:off x="475488" y="1700784"/>
            <a:ext cx="8193024" cy="457200"/>
          </a:xfrm>
          <a:prstGeom prst="rect">
            <a:avLst/>
          </a:prstGeom>
          <a:noFill/>
        </p:spPr>
        <p:txBody>
          <a:bodyPr wrap="square" lIns="0" rIns="0" tIns="0" bIns="0">
            <a:spAutoFit/>
          </a:bodyPr>
          <a:lstStyle/>
          <a:p>
            <a:pPr>
              <a:lnSpc>
                <a:spcPct val="118000"/>
              </a:lnSpc>
              <a:spcAft>
                <a:spcPts val="0"/>
              </a:spcAft>
            </a:pPr>
            <a:r>
              <a:rPr sz="1100" b="1">
                <a:solidFill>
                  <a:srgbClr val="00386F"/>
                </a:solidFill>
                <a:latin typeface="Calibri"/>
              </a:rPr>
              <a:t>Python 3.12, standard library only. </a:t>
            </a:r>
            <a:r>
              <a:rPr sz="1100" b="0">
                <a:solidFill>
                  <a:srgbClr val="1B2432"/>
                </a:solidFill>
                <a:latin typeface="Calibri"/>
              </a:rPr>
              <a:t>The pipeline imports nothing outside the stdlib — CSV and XLSX are read and written with zipfile and XML directly. There is no pandas, no openpyxl, no ML framework and no dependency that can break a build.</a:t>
            </a:r>
          </a:p>
        </p:txBody>
      </p:sp>
      <p:sp>
        <p:nvSpPr>
          <p:cNvPr id="157" name="Rectangle 156"/>
          <p:cNvSpPr/>
          <p:nvPr/>
        </p:nvSpPr>
        <p:spPr>
          <a:xfrm>
            <a:off x="475488" y="2340864"/>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03504" y="2432304"/>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Core pipeline</a:t>
            </a:r>
          </a:p>
          <a:p>
            <a:pPr algn="l">
              <a:lnSpc>
                <a:spcPct val="105000"/>
              </a:lnSpc>
              <a:spcAft>
                <a:spcPts val="0"/>
              </a:spcAft>
            </a:pPr>
            <a:r>
              <a:rPr sz="900" b="0" i="0">
                <a:solidFill>
                  <a:srgbClr val="1B2432"/>
                </a:solidFill>
                <a:latin typeface="Calibri"/>
              </a:rPr>
              <a:t>Python 3.12 · standard library only · no packages</a:t>
            </a:r>
          </a:p>
        </p:txBody>
      </p:sp>
      <p:sp>
        <p:nvSpPr>
          <p:cNvPr id="159" name="Rectangle 158"/>
          <p:cNvSpPr/>
          <p:nvPr/>
        </p:nvSpPr>
        <p:spPr>
          <a:xfrm>
            <a:off x="4645152" y="2340864"/>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4773168" y="2432304"/>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Data I/O</a:t>
            </a:r>
          </a:p>
          <a:p>
            <a:pPr algn="l">
              <a:lnSpc>
                <a:spcPct val="105000"/>
              </a:lnSpc>
              <a:spcAft>
                <a:spcPts val="0"/>
              </a:spcAft>
            </a:pPr>
            <a:r>
              <a:rPr sz="900" b="0" i="0">
                <a:solidFill>
                  <a:srgbClr val="1B2432"/>
                </a:solidFill>
                <a:latin typeface="Calibri"/>
              </a:rPr>
              <a:t>csv, zipfile, xml.etree — XLSX written by hand</a:t>
            </a:r>
          </a:p>
        </p:txBody>
      </p:sp>
      <p:sp>
        <p:nvSpPr>
          <p:cNvPr id="161" name="Rectangle 160"/>
          <p:cNvSpPr/>
          <p:nvPr/>
        </p:nvSpPr>
        <p:spPr>
          <a:xfrm>
            <a:off x="475488" y="2999232"/>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03504" y="3090672"/>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Prototype UI</a:t>
            </a:r>
          </a:p>
          <a:p>
            <a:pPr algn="l">
              <a:lnSpc>
                <a:spcPct val="105000"/>
              </a:lnSpc>
              <a:spcAft>
                <a:spcPts val="0"/>
              </a:spcAft>
            </a:pPr>
            <a:r>
              <a:rPr sz="900" b="0" i="0">
                <a:solidFill>
                  <a:srgbClr val="1B2432"/>
                </a:solidFill>
                <a:latin typeface="Calibri"/>
              </a:rPr>
              <a:t>Gradio 6 on Hugging Face Spaces (the one dependency)</a:t>
            </a:r>
          </a:p>
        </p:txBody>
      </p:sp>
      <p:sp>
        <p:nvSpPr>
          <p:cNvPr id="163" name="Rectangle 162"/>
          <p:cNvSpPr/>
          <p:nvPr/>
        </p:nvSpPr>
        <p:spPr>
          <a:xfrm>
            <a:off x="4645152" y="2999232"/>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773168" y="3090672"/>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Optional model layer</a:t>
            </a:r>
          </a:p>
          <a:p>
            <a:pPr algn="l">
              <a:lnSpc>
                <a:spcPct val="105000"/>
              </a:lnSpc>
              <a:spcAft>
                <a:spcPts val="0"/>
              </a:spcAft>
            </a:pPr>
            <a:r>
              <a:rPr sz="900" b="0" i="0">
                <a:solidFill>
                  <a:srgbClr val="1B2432"/>
                </a:solidFill>
                <a:latin typeface="Calibri"/>
              </a:rPr>
              <a:t>Provider-neutral adapter: Groq, Gemini, Anthropic, OpenAI</a:t>
            </a:r>
          </a:p>
        </p:txBody>
      </p:sp>
      <p:sp>
        <p:nvSpPr>
          <p:cNvPr id="165" name="Rectangle 164"/>
          <p:cNvSpPr/>
          <p:nvPr/>
        </p:nvSpPr>
        <p:spPr>
          <a:xfrm>
            <a:off x="475488" y="3657600"/>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03504" y="3749039"/>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Model governance</a:t>
            </a:r>
          </a:p>
          <a:p>
            <a:pPr algn="l">
              <a:lnSpc>
                <a:spcPct val="105000"/>
              </a:lnSpc>
              <a:spcAft>
                <a:spcPts val="0"/>
              </a:spcAft>
            </a:pPr>
            <a:r>
              <a:rPr sz="900" b="0" i="0">
                <a:solidFill>
                  <a:srgbClr val="1B2432"/>
                </a:solidFill>
                <a:latin typeface="Calibri"/>
              </a:rPr>
              <a:t>Evidence firewall, redundancy guard, verdict-only auditing</a:t>
            </a:r>
          </a:p>
        </p:txBody>
      </p:sp>
      <p:sp>
        <p:nvSpPr>
          <p:cNvPr id="167" name="Rectangle 166"/>
          <p:cNvSpPr/>
          <p:nvPr/>
        </p:nvSpPr>
        <p:spPr>
          <a:xfrm>
            <a:off x="4645152" y="3657600"/>
            <a:ext cx="4023360" cy="56692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773168" y="3749039"/>
            <a:ext cx="3767328" cy="40233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Quality assurance</a:t>
            </a:r>
          </a:p>
          <a:p>
            <a:pPr algn="l">
              <a:lnSpc>
                <a:spcPct val="105000"/>
              </a:lnSpc>
              <a:spcAft>
                <a:spcPts val="0"/>
              </a:spcAft>
            </a:pPr>
            <a:r>
              <a:rPr sz="900" b="0" i="0">
                <a:solidFill>
                  <a:srgbClr val="1B2432"/>
                </a:solidFill>
                <a:latin typeface="Calibri"/>
              </a:rPr>
              <a:t>46 invariant tests; evaluation against the published answer key</a:t>
            </a:r>
          </a:p>
        </p:txBody>
      </p:sp>
      <p:sp>
        <p:nvSpPr>
          <p:cNvPr id="169" name="TextBox 168"/>
          <p:cNvSpPr txBox="1"/>
          <p:nvPr/>
        </p:nvSpPr>
        <p:spPr>
          <a:xfrm>
            <a:off x="475488" y="4462272"/>
            <a:ext cx="8193024" cy="365760"/>
          </a:xfrm>
          <a:prstGeom prst="rect">
            <a:avLst/>
          </a:prstGeom>
          <a:noFill/>
        </p:spPr>
        <p:txBody>
          <a:bodyPr wrap="square" lIns="0" rIns="0" tIns="0" bIns="0">
            <a:spAutoFit/>
          </a:bodyPr>
          <a:lstStyle/>
          <a:p>
            <a:pPr algn="l">
              <a:spcAft>
                <a:spcPts val="0"/>
              </a:spcAft>
            </a:pPr>
            <a:r>
              <a:rPr sz="1000" b="0" i="1">
                <a:solidFill>
                  <a:srgbClr val="5A6678"/>
                </a:solidFill>
                <a:latin typeface="Calibri"/>
              </a:rPr>
              <a:t>Consequence: a judge can clone the repository and run the whole pipeline with one command, on a machine with no network access.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35"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61" name="Google Shape;161;p35"/>
          <p:cNvSpPr txBox="1"/>
          <p:nvPr/>
        </p:nvSpPr>
        <p:spPr>
          <a:xfrm>
            <a:off x="158825" y="818550"/>
            <a:ext cx="8845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Estimated implementation cost (optional)</a:t>
            </a:r>
            <a:endParaRPr b="0" i="0" sz="1800" u="none" cap="none" strike="noStrike">
              <a:solidFill>
                <a:srgbClr val="000000"/>
              </a:solidFill>
              <a:latin typeface="Google Sans"/>
              <a:ea typeface="Google Sans"/>
              <a:cs typeface="Google Sans"/>
              <a:sym typeface="Google Sans"/>
            </a:endParaRPr>
          </a:p>
        </p:txBody>
      </p:sp>
      <p:sp>
        <p:nvSpPr>
          <p:cNvPr id="162" name="TextBox 161"/>
          <p:cNvSpPr txBox="1"/>
          <p:nvPr/>
        </p:nvSpPr>
        <p:spPr>
          <a:xfrm>
            <a:off x="475488" y="1645920"/>
            <a:ext cx="8193024" cy="402336"/>
          </a:xfrm>
          <a:prstGeom prst="rect">
            <a:avLst/>
          </a:prstGeom>
          <a:noFill/>
        </p:spPr>
        <p:txBody>
          <a:bodyPr wrap="square" lIns="0" rIns="0" tIns="0" bIns="0">
            <a:spAutoFit/>
          </a:bodyPr>
          <a:lstStyle/>
          <a:p>
            <a:pPr>
              <a:lnSpc>
                <a:spcPct val="118000"/>
              </a:lnSpc>
              <a:spcAft>
                <a:spcPts val="0"/>
              </a:spcAft>
            </a:pPr>
            <a:r>
              <a:rPr sz="1150" b="1">
                <a:solidFill>
                  <a:srgbClr val="00386F"/>
                </a:solidFill>
                <a:latin typeface="Calibri"/>
              </a:rPr>
              <a:t>Running the deterministic pipeline costs nothing but CPU.</a:t>
            </a:r>
          </a:p>
        </p:txBody>
      </p:sp>
      <p:sp>
        <p:nvSpPr>
          <p:cNvPr id="163" name="Rectangle 162"/>
          <p:cNvSpPr/>
          <p:nvPr/>
        </p:nvSpPr>
        <p:spPr>
          <a:xfrm>
            <a:off x="475488" y="2157984"/>
            <a:ext cx="8193024" cy="65836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1792" y="2240280"/>
            <a:ext cx="2743200" cy="49377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Deterministic enrichment</a:t>
            </a:r>
          </a:p>
        </p:txBody>
      </p:sp>
      <p:sp>
        <p:nvSpPr>
          <p:cNvPr id="165" name="TextBox 164"/>
          <p:cNvSpPr txBox="1"/>
          <p:nvPr/>
        </p:nvSpPr>
        <p:spPr>
          <a:xfrm>
            <a:off x="3401568" y="2240280"/>
            <a:ext cx="1737360" cy="493776"/>
          </a:xfrm>
          <a:prstGeom prst="rect">
            <a:avLst/>
          </a:prstGeom>
          <a:noFill/>
        </p:spPr>
        <p:txBody>
          <a:bodyPr wrap="square" lIns="0" rIns="0" tIns="0" bIns="0">
            <a:spAutoFit/>
          </a:bodyPr>
          <a:lstStyle/>
          <a:p>
            <a:pPr algn="l">
              <a:lnSpc>
                <a:spcPct val="100000"/>
              </a:lnSpc>
              <a:spcAft>
                <a:spcPts val="0"/>
              </a:spcAft>
            </a:pPr>
            <a:r>
              <a:rPr sz="1100" b="1" i="0">
                <a:solidFill>
                  <a:srgbClr val="0B5FA5"/>
                </a:solidFill>
                <a:latin typeface="Calibri"/>
              </a:rPr>
              <a:t>₹0</a:t>
            </a:r>
          </a:p>
        </p:txBody>
      </p:sp>
      <p:sp>
        <p:nvSpPr>
          <p:cNvPr id="166" name="TextBox 165"/>
          <p:cNvSpPr txBox="1"/>
          <p:nvPr/>
        </p:nvSpPr>
        <p:spPr>
          <a:xfrm>
            <a:off x="5193792" y="2240280"/>
            <a:ext cx="3328416" cy="512064"/>
          </a:xfrm>
          <a:prstGeom prst="rect">
            <a:avLst/>
          </a:prstGeom>
          <a:noFill/>
        </p:spPr>
        <p:txBody>
          <a:bodyPr wrap="square" lIns="0" rIns="0" tIns="0" bIns="0">
            <a:spAutoFit/>
          </a:bodyPr>
          <a:lstStyle/>
          <a:p>
            <a:pPr algn="l">
              <a:lnSpc>
                <a:spcPct val="110000"/>
              </a:lnSpc>
              <a:spcAft>
                <a:spcPts val="0"/>
              </a:spcAft>
            </a:pPr>
            <a:r>
              <a:rPr sz="900" b="0" i="0">
                <a:solidFill>
                  <a:srgbClr val="1B2432"/>
                </a:solidFill>
                <a:latin typeface="Calibri"/>
              </a:rPr>
              <a:t>No API calls. ~3 s per 1,000 rows on one core; ~1 CPU-hour per 1M SKUs.</a:t>
            </a:r>
          </a:p>
        </p:txBody>
      </p:sp>
      <p:sp>
        <p:nvSpPr>
          <p:cNvPr id="167" name="Rectangle 166"/>
          <p:cNvSpPr/>
          <p:nvPr/>
        </p:nvSpPr>
        <p:spPr>
          <a:xfrm>
            <a:off x="475488" y="2889504"/>
            <a:ext cx="8193024" cy="65836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21792" y="2971800"/>
            <a:ext cx="2743200" cy="49377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Hosting the prototype</a:t>
            </a:r>
          </a:p>
        </p:txBody>
      </p:sp>
      <p:sp>
        <p:nvSpPr>
          <p:cNvPr id="169" name="TextBox 168"/>
          <p:cNvSpPr txBox="1"/>
          <p:nvPr/>
        </p:nvSpPr>
        <p:spPr>
          <a:xfrm>
            <a:off x="3401568" y="2971800"/>
            <a:ext cx="1737360" cy="493776"/>
          </a:xfrm>
          <a:prstGeom prst="rect">
            <a:avLst/>
          </a:prstGeom>
          <a:noFill/>
        </p:spPr>
        <p:txBody>
          <a:bodyPr wrap="square" lIns="0" rIns="0" tIns="0" bIns="0">
            <a:spAutoFit/>
          </a:bodyPr>
          <a:lstStyle/>
          <a:p>
            <a:pPr algn="l">
              <a:lnSpc>
                <a:spcPct val="100000"/>
              </a:lnSpc>
              <a:spcAft>
                <a:spcPts val="0"/>
              </a:spcAft>
            </a:pPr>
            <a:r>
              <a:rPr sz="1100" b="1" i="0">
                <a:solidFill>
                  <a:srgbClr val="0B5FA5"/>
                </a:solidFill>
                <a:latin typeface="Calibri"/>
              </a:rPr>
              <a:t>₹0</a:t>
            </a:r>
          </a:p>
        </p:txBody>
      </p:sp>
      <p:sp>
        <p:nvSpPr>
          <p:cNvPr id="170" name="TextBox 169"/>
          <p:cNvSpPr txBox="1"/>
          <p:nvPr/>
        </p:nvSpPr>
        <p:spPr>
          <a:xfrm>
            <a:off x="5193792" y="2971800"/>
            <a:ext cx="3328416" cy="512064"/>
          </a:xfrm>
          <a:prstGeom prst="rect">
            <a:avLst/>
          </a:prstGeom>
          <a:noFill/>
        </p:spPr>
        <p:txBody>
          <a:bodyPr wrap="square" lIns="0" rIns="0" tIns="0" bIns="0">
            <a:spAutoFit/>
          </a:bodyPr>
          <a:lstStyle/>
          <a:p>
            <a:pPr algn="l">
              <a:lnSpc>
                <a:spcPct val="110000"/>
              </a:lnSpc>
              <a:spcAft>
                <a:spcPts val="0"/>
              </a:spcAft>
            </a:pPr>
            <a:r>
              <a:rPr sz="900" b="0" i="0">
                <a:solidFill>
                  <a:srgbClr val="1B2432"/>
                </a:solidFill>
                <a:latin typeface="Calibri"/>
              </a:rPr>
              <a:t>Hugging Face Spaces free tier.</a:t>
            </a:r>
          </a:p>
        </p:txBody>
      </p:sp>
      <p:sp>
        <p:nvSpPr>
          <p:cNvPr id="171" name="Rectangle 170"/>
          <p:cNvSpPr/>
          <p:nvPr/>
        </p:nvSpPr>
        <p:spPr>
          <a:xfrm>
            <a:off x="475488" y="3621024"/>
            <a:ext cx="8193024" cy="65836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21792" y="3703320"/>
            <a:ext cx="2743200" cy="49377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Optional model pass</a:t>
            </a:r>
          </a:p>
        </p:txBody>
      </p:sp>
      <p:sp>
        <p:nvSpPr>
          <p:cNvPr id="173" name="TextBox 172"/>
          <p:cNvSpPr txBox="1"/>
          <p:nvPr/>
        </p:nvSpPr>
        <p:spPr>
          <a:xfrm>
            <a:off x="3401568" y="3703320"/>
            <a:ext cx="1737360" cy="493776"/>
          </a:xfrm>
          <a:prstGeom prst="rect">
            <a:avLst/>
          </a:prstGeom>
          <a:noFill/>
        </p:spPr>
        <p:txBody>
          <a:bodyPr wrap="square" lIns="0" rIns="0" tIns="0" bIns="0">
            <a:spAutoFit/>
          </a:bodyPr>
          <a:lstStyle/>
          <a:p>
            <a:pPr algn="l">
              <a:lnSpc>
                <a:spcPct val="100000"/>
              </a:lnSpc>
              <a:spcAft>
                <a:spcPts val="0"/>
              </a:spcAft>
            </a:pPr>
            <a:r>
              <a:rPr sz="1100" b="1" i="0">
                <a:solidFill>
                  <a:srgbClr val="0B5FA5"/>
                </a:solidFill>
                <a:latin typeface="Calibri"/>
              </a:rPr>
              <a:t>≈ ₹40–90 per 10,000 rows</a:t>
            </a:r>
          </a:p>
        </p:txBody>
      </p:sp>
      <p:sp>
        <p:nvSpPr>
          <p:cNvPr id="174" name="TextBox 173"/>
          <p:cNvSpPr txBox="1"/>
          <p:nvPr/>
        </p:nvSpPr>
        <p:spPr>
          <a:xfrm>
            <a:off x="5193792" y="3703320"/>
            <a:ext cx="3328416" cy="512064"/>
          </a:xfrm>
          <a:prstGeom prst="rect">
            <a:avLst/>
          </a:prstGeom>
          <a:noFill/>
        </p:spPr>
        <p:txBody>
          <a:bodyPr wrap="square" lIns="0" rIns="0" tIns="0" bIns="0">
            <a:spAutoFit/>
          </a:bodyPr>
          <a:lstStyle/>
          <a:p>
            <a:pPr algn="l">
              <a:lnSpc>
                <a:spcPct val="110000"/>
              </a:lnSpc>
              <a:spcAft>
                <a:spcPts val="0"/>
              </a:spcAft>
            </a:pPr>
            <a:r>
              <a:rPr sz="900" b="0" i="0">
                <a:solidFill>
                  <a:srgbClr val="1B2432"/>
                </a:solidFill>
                <a:latin typeface="Calibri"/>
              </a:rPr>
              <a:t>Only rows the rules cannot resolve are sent — roughly 12% of the catalogue — and results are cached on disk.</a:t>
            </a:r>
          </a:p>
        </p:txBody>
      </p:sp>
      <p:sp>
        <p:nvSpPr>
          <p:cNvPr id="175" name="Rectangle 174"/>
          <p:cNvSpPr/>
          <p:nvPr/>
        </p:nvSpPr>
        <p:spPr>
          <a:xfrm>
            <a:off x="475488" y="4352544"/>
            <a:ext cx="8193024" cy="658368"/>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21792" y="4434840"/>
            <a:ext cx="2743200" cy="493776"/>
          </a:xfrm>
          <a:prstGeom prst="rect">
            <a:avLst/>
          </a:prstGeom>
          <a:noFill/>
        </p:spPr>
        <p:txBody>
          <a:bodyPr wrap="square" lIns="0" rIns="0" tIns="0" bIns="0">
            <a:spAutoFit/>
          </a:bodyPr>
          <a:lstStyle/>
          <a:p>
            <a:pPr algn="l">
              <a:lnSpc>
                <a:spcPct val="100000"/>
              </a:lnSpc>
              <a:spcAft>
                <a:spcPts val="100"/>
              </a:spcAft>
            </a:pPr>
            <a:r>
              <a:rPr sz="1050" b="1" i="0">
                <a:solidFill>
                  <a:srgbClr val="00386F"/>
                </a:solidFill>
                <a:latin typeface="Calibri"/>
              </a:rPr>
              <a:t>Human review</a:t>
            </a:r>
          </a:p>
        </p:txBody>
      </p:sp>
      <p:sp>
        <p:nvSpPr>
          <p:cNvPr id="177" name="TextBox 176"/>
          <p:cNvSpPr txBox="1"/>
          <p:nvPr/>
        </p:nvSpPr>
        <p:spPr>
          <a:xfrm>
            <a:off x="3401568" y="4434840"/>
            <a:ext cx="1737360" cy="493776"/>
          </a:xfrm>
          <a:prstGeom prst="rect">
            <a:avLst/>
          </a:prstGeom>
          <a:noFill/>
        </p:spPr>
        <p:txBody>
          <a:bodyPr wrap="square" lIns="0" rIns="0" tIns="0" bIns="0">
            <a:spAutoFit/>
          </a:bodyPr>
          <a:lstStyle/>
          <a:p>
            <a:pPr algn="l">
              <a:lnSpc>
                <a:spcPct val="100000"/>
              </a:lnSpc>
              <a:spcAft>
                <a:spcPts val="0"/>
              </a:spcAft>
            </a:pPr>
            <a:r>
              <a:rPr sz="1100" b="1" i="0">
                <a:solidFill>
                  <a:srgbClr val="0B5FA5"/>
                </a:solidFill>
                <a:latin typeface="Calibri"/>
              </a:rPr>
              <a:t>Scales with the queue</a:t>
            </a:r>
          </a:p>
        </p:txBody>
      </p:sp>
      <p:sp>
        <p:nvSpPr>
          <p:cNvPr id="178" name="TextBox 177"/>
          <p:cNvSpPr txBox="1"/>
          <p:nvPr/>
        </p:nvSpPr>
        <p:spPr>
          <a:xfrm>
            <a:off x="5193792" y="4434840"/>
            <a:ext cx="3328416" cy="512064"/>
          </a:xfrm>
          <a:prstGeom prst="rect">
            <a:avLst/>
          </a:prstGeom>
          <a:noFill/>
        </p:spPr>
        <p:txBody>
          <a:bodyPr wrap="square" lIns="0" rIns="0" tIns="0" bIns="0">
            <a:spAutoFit/>
          </a:bodyPr>
          <a:lstStyle/>
          <a:p>
            <a:pPr algn="l">
              <a:lnSpc>
                <a:spcPct val="110000"/>
              </a:lnSpc>
              <a:spcAft>
                <a:spcPts val="0"/>
              </a:spcAft>
            </a:pPr>
            <a:r>
              <a:rPr sz="900" b="0" i="0">
                <a:solidFill>
                  <a:srgbClr val="1B2432"/>
                </a:solidFill>
                <a:latin typeface="Calibri"/>
              </a:rPr>
              <a:t>77.4% of rows need no human. The queue is ranked, so reviewer time goes to the rows where it pays.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36"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67" name="Google Shape;167;p36"/>
          <p:cNvSpPr txBox="1"/>
          <p:nvPr/>
        </p:nvSpPr>
        <p:spPr>
          <a:xfrm>
            <a:off x="219900" y="855225"/>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Snapshots of the MVP</a:t>
            </a:r>
            <a:endParaRPr b="0" i="0" sz="1800" u="none" cap="none" strike="noStrike">
              <a:solidFill>
                <a:srgbClr val="000000"/>
              </a:solidFill>
              <a:latin typeface="Google Sans"/>
              <a:ea typeface="Google Sans"/>
              <a:cs typeface="Google Sans"/>
              <a:sym typeface="Google Sans"/>
            </a:endParaRPr>
          </a:p>
        </p:txBody>
      </p:sp>
      <p:pic>
        <p:nvPicPr>
          <p:cNvPr id="168" name="Picture 167" descr="evi_closeup.png"/>
          <p:cNvPicPr>
            <a:picLocks noChangeAspect="1"/>
          </p:cNvPicPr>
          <p:nvPr/>
        </p:nvPicPr>
        <p:blipFill>
          <a:blip r:embed="rId4"/>
          <a:stretch>
            <a:fillRect/>
          </a:stretch>
        </p:blipFill>
        <p:spPr>
          <a:xfrm>
            <a:off x="475488" y="1517904"/>
            <a:ext cx="8193024" cy="2328184"/>
          </a:xfrm>
          <a:prstGeom prst="rect">
            <a:avLst/>
          </a:prstGeom>
          <a:ln w="9525">
            <a:solidFill>
              <a:srgbClr val="D5DEE8"/>
            </a:solidFill>
          </a:ln>
        </p:spPr>
      </p:pic>
      <p:sp>
        <p:nvSpPr>
          <p:cNvPr id="169" name="TextBox 168"/>
          <p:cNvSpPr txBox="1"/>
          <p:nvPr/>
        </p:nvSpPr>
        <p:spPr>
          <a:xfrm>
            <a:off x="475488" y="3968496"/>
            <a:ext cx="8193024" cy="960120"/>
          </a:xfrm>
          <a:prstGeom prst="rect">
            <a:avLst/>
          </a:prstGeom>
          <a:noFill/>
        </p:spPr>
        <p:txBody>
          <a:bodyPr wrap="square" lIns="0" rIns="0" tIns="0" bIns="0">
            <a:spAutoFit/>
          </a:bodyPr>
          <a:lstStyle/>
          <a:p>
            <a:pPr>
              <a:lnSpc>
                <a:spcPct val="118000"/>
              </a:lnSpc>
              <a:spcAft>
                <a:spcPts val="600"/>
              </a:spcAft>
            </a:pPr>
            <a:r>
              <a:rPr sz="1050" b="1">
                <a:solidFill>
                  <a:srgbClr val="00386F"/>
                </a:solidFill>
                <a:latin typeface="Calibri"/>
              </a:rPr>
              <a:t>Three columns of one row, as the prototype explains them. </a:t>
            </a:r>
            <a:r>
              <a:rPr sz="1050" b="0">
                <a:solidFill>
                  <a:srgbClr val="1B2432"/>
                </a:solidFill>
                <a:latin typeface="Calibri"/>
              </a:rPr>
              <a:t>Each shows the method (rule, registry), the rule id, a confidence, and in the gold quote the exact characters of the input that justified the value — with the column they came from. BRAND_NAME became Milwaukee® because the four characters “milw” appear in Part_Desc and resolve against the approved brand registry; nothing here was generated.</a:t>
            </a:r>
          </a:p>
          <a:p>
            <a:pPr>
              <a:lnSpc>
                <a:spcPct val="118000"/>
              </a:lnSpc>
              <a:spcAft>
                <a:spcPts val="0"/>
              </a:spcAft>
            </a:pPr>
            <a:r>
              <a:rPr sz="950" b="0">
                <a:solidFill>
                  <a:srgbClr val="5A6678"/>
                </a:solidFill>
                <a:latin typeface="Calibri"/>
              </a:rPr>
              <a:t>26,596 populated cells across the catalogue carry provenance of this kind, produced by the pipeline rather than written afterwards as a report. Reproduce this panel by clicking any row at huggingface.co/spaces/jacklachan/unihack.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7"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73" name="Google Shape;173;p37"/>
          <p:cNvSpPr txBox="1"/>
          <p:nvPr/>
        </p:nvSpPr>
        <p:spPr>
          <a:xfrm>
            <a:off x="109950" y="781900"/>
            <a:ext cx="8894100" cy="6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Additional Details/Future Development (if any)</a:t>
            </a:r>
            <a:endParaRPr b="0" i="0" sz="1800" u="none" cap="none" strike="noStrike">
              <a:solidFill>
                <a:srgbClr val="000000"/>
              </a:solidFill>
              <a:latin typeface="Google Sans"/>
              <a:ea typeface="Google Sans"/>
              <a:cs typeface="Google Sans"/>
              <a:sym typeface="Google Sans"/>
            </a:endParaRPr>
          </a:p>
        </p:txBody>
      </p:sp>
      <p:sp>
        <p:nvSpPr>
          <p:cNvPr id="174" name="TextBox 173"/>
          <p:cNvSpPr txBox="1"/>
          <p:nvPr/>
        </p:nvSpPr>
        <p:spPr>
          <a:xfrm>
            <a:off x="475488" y="1627632"/>
            <a:ext cx="8193024" cy="2926080"/>
          </a:xfrm>
          <a:prstGeom prst="rect">
            <a:avLst/>
          </a:prstGeom>
          <a:noFill/>
        </p:spPr>
        <p:txBody>
          <a:bodyPr wrap="square" lIns="0" rIns="0" tIns="0" bIns="0">
            <a:spAutoFit/>
          </a:bodyPr>
          <a:lstStyle/>
          <a:p>
            <a:pPr>
              <a:lnSpc>
                <a:spcPct val="118000"/>
              </a:lnSpc>
              <a:spcAft>
                <a:spcPts val="900"/>
              </a:spcAft>
            </a:pPr>
            <a:r>
              <a:rPr sz="1150" b="1">
                <a:solidFill>
                  <a:srgbClr val="00386F"/>
                </a:solidFill>
                <a:latin typeface="Calibri"/>
              </a:rPr>
              <a:t>What the measurements told us to build next.</a:t>
            </a:r>
          </a:p>
          <a:p>
            <a:pPr>
              <a:lnSpc>
                <a:spcPct val="118000"/>
              </a:lnSpc>
              <a:spcAft>
                <a:spcPts val="800"/>
              </a:spcAft>
            </a:pPr>
            <a:r>
              <a:rPr sz="1050" b="1">
                <a:solidFill>
                  <a:srgbClr val="0B5FA5"/>
                </a:solidFill>
                <a:latin typeface="Calibri"/>
              </a:rPr>
              <a:t>Manufacturer retrieval is the real ceiling.  </a:t>
            </a:r>
            <a:r>
              <a:rPr sz="1050" b="0">
                <a:solidFill>
                  <a:srgbClr val="1B2432"/>
                </a:solidFill>
                <a:latin typeface="Calibri"/>
              </a:rPr>
              <a:t>Eleven of the twelve attribute values in the labelled row appear nowhere in its input. No amount of prompting recovers them — they have to be fetched from manufacturer sources and then held to the same evidence rule as everything else. This is the single highest-value extension.</a:t>
            </a:r>
          </a:p>
          <a:p>
            <a:pPr>
              <a:lnSpc>
                <a:spcPct val="118000"/>
              </a:lnSpc>
              <a:spcAft>
                <a:spcPts val="800"/>
              </a:spcAft>
            </a:pPr>
            <a:r>
              <a:rPr sz="1050" b="1">
                <a:solidFill>
                  <a:srgbClr val="0B5FA5"/>
                </a:solidFill>
                <a:latin typeface="Calibri"/>
              </a:rPr>
              <a:t>A larger answer key.  </a:t>
            </a:r>
            <a:r>
              <a:rPr sz="1050" b="0">
                <a:solidFill>
                  <a:srgbClr val="1B2432"/>
                </a:solidFill>
                <a:latin typeface="Calibri"/>
              </a:rPr>
              <a:t>Accuracy is 48.0% exact on two labelled rows. That base is too narrow to carry a claim, which is why we report sibling agreement alongside it. With a few hundred labelled rows the same harness reports a real number.</a:t>
            </a:r>
          </a:p>
          <a:p>
            <a:pPr>
              <a:lnSpc>
                <a:spcPct val="118000"/>
              </a:lnSpc>
              <a:spcAft>
                <a:spcPts val="800"/>
              </a:spcAft>
            </a:pPr>
            <a:r>
              <a:rPr sz="1050" b="1">
                <a:solidFill>
                  <a:srgbClr val="0B5FA5"/>
                </a:solidFill>
                <a:latin typeface="Calibri"/>
              </a:rPr>
              <a:t>Learning from corrections.  </a:t>
            </a:r>
            <a:r>
              <a:rPr sz="1050" b="0">
                <a:solidFill>
                  <a:srgbClr val="1B2432"/>
                </a:solidFill>
                <a:latin typeface="Calibri"/>
              </a:rPr>
              <a:t>Every reviewer edit is already captured with the fact it overrode. Feeding those back as registry and vocabulary entries makes the deterministic path absorb the reviewer's judgement permanently.</a:t>
            </a:r>
          </a:p>
          <a:p>
            <a:pPr>
              <a:lnSpc>
                <a:spcPct val="118000"/>
              </a:lnSpc>
              <a:spcAft>
                <a:spcPts val="800"/>
              </a:spcAft>
            </a:pPr>
            <a:r>
              <a:rPr sz="1050" b="1">
                <a:solidFill>
                  <a:srgbClr val="0B5FA5"/>
                </a:solidFill>
                <a:latin typeface="Calibri"/>
              </a:rPr>
              <a:t>Image and document evidence.  </a:t>
            </a:r>
            <a:r>
              <a:rPr sz="1050" b="0">
                <a:solidFill>
                  <a:srgbClr val="1B2432"/>
                </a:solidFill>
                <a:latin typeface="Calibri"/>
              </a:rPr>
              <a:t>The Fact/Evidence type does not care whether a quote came from text or from a spec sheet. Extending the evidence kind lets datasheets and images become first-class sources without weakening the rule.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38"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79" name="Google Shape;179;p38"/>
          <p:cNvSpPr txBox="1"/>
          <p:nvPr/>
        </p:nvSpPr>
        <p:spPr>
          <a:xfrm>
            <a:off x="146600" y="843000"/>
            <a:ext cx="8833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Provide links to your:</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GitHub Public Repository</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Demo Video Link (3 Minutes)</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Link</a:t>
            </a:r>
            <a:endParaRPr sz="1800">
              <a:latin typeface="Google Sans"/>
              <a:ea typeface="Google Sans"/>
              <a:cs typeface="Google Sans"/>
              <a:sym typeface="Google Sans"/>
            </a:endParaRPr>
          </a:p>
        </p:txBody>
      </p:sp>
      <p:sp>
        <p:nvSpPr>
          <p:cNvPr id="180" name="Rectangle 179"/>
          <p:cNvSpPr/>
          <p:nvPr/>
        </p:nvSpPr>
        <p:spPr>
          <a:xfrm>
            <a:off x="475488" y="2359152"/>
            <a:ext cx="8193024" cy="69494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40080" y="2441448"/>
            <a:ext cx="7863840" cy="548640"/>
          </a:xfrm>
          <a:prstGeom prst="rect">
            <a:avLst/>
          </a:prstGeom>
          <a:noFill/>
        </p:spPr>
        <p:txBody>
          <a:bodyPr wrap="square" lIns="0" rIns="0" tIns="0" bIns="0">
            <a:spAutoFit/>
          </a:bodyPr>
          <a:lstStyle/>
          <a:p>
            <a:pPr algn="l">
              <a:lnSpc>
                <a:spcPct val="100000"/>
              </a:lnSpc>
              <a:spcAft>
                <a:spcPts val="300"/>
              </a:spcAft>
            </a:pPr>
            <a:r>
              <a:rPr sz="1100" b="1" i="0">
                <a:solidFill>
                  <a:srgbClr val="00386F"/>
                </a:solidFill>
                <a:latin typeface="Calibri"/>
              </a:rPr>
              <a:t>Working prototype</a:t>
            </a:r>
          </a:p>
          <a:p>
            <a:pPr algn="l">
              <a:lnSpc>
                <a:spcPct val="100000"/>
              </a:lnSpc>
              <a:spcAft>
                <a:spcPts val="300"/>
              </a:spcAft>
            </a:pPr>
            <a:r>
              <a:rPr sz="1150" b="1" i="0">
                <a:solidFill>
                  <a:srgbClr val="0B5FA5"/>
                </a:solidFill>
                <a:latin typeface="Calibri"/>
              </a:rPr>
              <a:t>https://huggingface.co/spaces/jacklachan/unihack</a:t>
            </a:r>
          </a:p>
          <a:p>
            <a:pPr algn="l">
              <a:lnSpc>
                <a:spcPct val="100000"/>
              </a:lnSpc>
              <a:spcAft>
                <a:spcPts val="0"/>
              </a:spcAft>
            </a:pPr>
            <a:r>
              <a:rPr sz="900" b="0" i="0">
                <a:solidFill>
                  <a:srgbClr val="5A6678"/>
                </a:solidFill>
                <a:latin typeface="Calibri"/>
              </a:rPr>
              <a:t>Opens already enriched. No login, no key, no setup.</a:t>
            </a:r>
          </a:p>
        </p:txBody>
      </p:sp>
      <p:sp>
        <p:nvSpPr>
          <p:cNvPr id="182" name="Rectangle 181"/>
          <p:cNvSpPr/>
          <p:nvPr/>
        </p:nvSpPr>
        <p:spPr>
          <a:xfrm>
            <a:off x="475488" y="3145536"/>
            <a:ext cx="8193024" cy="69494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40080" y="3227832"/>
            <a:ext cx="7863840" cy="548640"/>
          </a:xfrm>
          <a:prstGeom prst="rect">
            <a:avLst/>
          </a:prstGeom>
          <a:noFill/>
        </p:spPr>
        <p:txBody>
          <a:bodyPr wrap="square" lIns="0" rIns="0" tIns="0" bIns="0">
            <a:spAutoFit/>
          </a:bodyPr>
          <a:lstStyle/>
          <a:p>
            <a:pPr algn="l">
              <a:lnSpc>
                <a:spcPct val="100000"/>
              </a:lnSpc>
              <a:spcAft>
                <a:spcPts val="300"/>
              </a:spcAft>
            </a:pPr>
            <a:r>
              <a:rPr sz="1100" b="1" i="0">
                <a:solidFill>
                  <a:srgbClr val="00386F"/>
                </a:solidFill>
                <a:latin typeface="Calibri"/>
              </a:rPr>
              <a:t>GitHub repository</a:t>
            </a:r>
          </a:p>
          <a:p>
            <a:pPr algn="l">
              <a:lnSpc>
                <a:spcPct val="100000"/>
              </a:lnSpc>
              <a:spcAft>
                <a:spcPts val="300"/>
              </a:spcAft>
            </a:pPr>
            <a:r>
              <a:rPr sz="1150" b="1" i="0">
                <a:solidFill>
                  <a:srgbClr val="0B5FA5"/>
                </a:solidFill>
                <a:latin typeface="Calibri"/>
              </a:rPr>
              <a:t>https://github.com/jacklachan/unihack</a:t>
            </a:r>
          </a:p>
          <a:p>
            <a:pPr algn="l">
              <a:lnSpc>
                <a:spcPct val="100000"/>
              </a:lnSpc>
              <a:spcAft>
                <a:spcPts val="0"/>
              </a:spcAft>
            </a:pPr>
            <a:r>
              <a:rPr sz="900" b="0" i="0">
                <a:solidFill>
                  <a:srgbClr val="5A6678"/>
                </a:solidFill>
                <a:latin typeface="Calibri"/>
              </a:rPr>
              <a:t>Standard library only, 46 invariant tests, clone and run.</a:t>
            </a:r>
          </a:p>
        </p:txBody>
      </p:sp>
      <p:sp>
        <p:nvSpPr>
          <p:cNvPr id="184" name="Rectangle 183"/>
          <p:cNvSpPr/>
          <p:nvPr/>
        </p:nvSpPr>
        <p:spPr>
          <a:xfrm>
            <a:off x="475488" y="3931920"/>
            <a:ext cx="8193024" cy="694944"/>
          </a:xfrm>
          <a:prstGeom prst="rect">
            <a:avLst/>
          </a:prstGeom>
          <a:solidFill>
            <a:srgbClr val="F3F7FB"/>
          </a:solidFill>
          <a:ln w="9525">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40080" y="4014215"/>
            <a:ext cx="7863840" cy="548640"/>
          </a:xfrm>
          <a:prstGeom prst="rect">
            <a:avLst/>
          </a:prstGeom>
          <a:noFill/>
        </p:spPr>
        <p:txBody>
          <a:bodyPr wrap="square" lIns="0" rIns="0" tIns="0" bIns="0">
            <a:spAutoFit/>
          </a:bodyPr>
          <a:lstStyle/>
          <a:p>
            <a:pPr algn="l">
              <a:lnSpc>
                <a:spcPct val="100000"/>
              </a:lnSpc>
              <a:spcAft>
                <a:spcPts val="300"/>
              </a:spcAft>
            </a:pPr>
            <a:r>
              <a:rPr sz="1100" b="1" i="0">
                <a:solidFill>
                  <a:srgbClr val="00386F"/>
                </a:solidFill>
                <a:latin typeface="Calibri"/>
              </a:rPr>
              <a:t>Demo video (3 minutes)</a:t>
            </a:r>
          </a:p>
          <a:p>
            <a:pPr algn="l">
              <a:lnSpc>
                <a:spcPct val="100000"/>
              </a:lnSpc>
              <a:spcAft>
                <a:spcPts val="300"/>
              </a:spcAft>
            </a:pPr>
            <a:r>
              <a:rPr sz="1150" b="1" i="0">
                <a:solidFill>
                  <a:srgbClr val="B03021"/>
                </a:solidFill>
                <a:latin typeface="Calibri"/>
              </a:rPr>
              <a:t>&lt;&lt;&lt; PASTE YOUR VIDEO LINK &gt;&gt;&gt;</a:t>
            </a:r>
          </a:p>
          <a:p>
            <a:pPr algn="l">
              <a:lnSpc>
                <a:spcPct val="100000"/>
              </a:lnSpc>
              <a:spcAft>
                <a:spcPts val="0"/>
              </a:spcAft>
            </a:pPr>
            <a:r>
              <a:rPr sz="900" b="0" i="0">
                <a:solidFill>
                  <a:srgbClr val="5A6678"/>
                </a:solidFill>
                <a:latin typeface="Calibri"/>
              </a:rPr>
              <a:t>Set sharing to anyone-with-the-link and check it in a private window.</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9" title="Framededede 4.pn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93192" y="777240"/>
            <a:ext cx="8366760" cy="557784"/>
          </a:xfrm>
          <a:prstGeom prst="rect">
            <a:avLst/>
          </a:prstGeom>
          <a:noFill/>
        </p:spPr>
        <p:txBody>
          <a:bodyPr wrap="square" lIns="0" rIns="0" tIns="0" bIns="0">
            <a:spAutoFit/>
          </a:bodyPr>
          <a:lstStyle/>
          <a:p>
            <a:r>
              <a:rPr sz="1800">
                <a:solidFill>
                  <a:srgbClr val="000000"/>
                </a:solidFill>
                <a:latin typeface="Google Sans"/>
              </a:rPr>
              <a:t>Questions you might ask (1 of 3)</a:t>
            </a:r>
          </a:p>
        </p:txBody>
      </p:sp>
      <p:sp>
        <p:nvSpPr>
          <p:cNvPr id="4" name="TextBox 3"/>
          <p:cNvSpPr txBox="1"/>
          <p:nvPr/>
        </p:nvSpPr>
        <p:spPr>
          <a:xfrm>
            <a:off x="475488" y="1389888"/>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“Forty-eight percent does not sound like much.”</a:t>
            </a:r>
          </a:p>
          <a:p>
            <a:pPr>
              <a:lnSpc>
                <a:spcPct val="122000"/>
              </a:lnSpc>
              <a:spcAft>
                <a:spcPts val="0"/>
              </a:spcAft>
            </a:pPr>
            <a:r>
              <a:rPr sz="950" b="0">
                <a:solidFill>
                  <a:srgbClr val="1B2432"/>
                </a:solidFill>
                <a:latin typeface="Calibri"/>
              </a:rPr>
              <a:t>It is 48.0% exact match on the in-scope fields of </a:t>
            </a:r>
            <a:r>
              <a:rPr sz="950" b="1">
                <a:solidFill>
                  <a:srgbClr val="1B2432"/>
                </a:solidFill>
                <a:latin typeface="Calibri"/>
              </a:rPr>
              <a:t>two</a:t>
            </a:r>
            <a:r>
              <a:rPr sz="950" b="0">
                <a:solidFill>
                  <a:srgbClr val="1B2432"/>
                </a:solidFill>
                <a:latin typeface="Calibri"/>
              </a:rPr>
              <a:t> labelled rows — the only ground truth published with the challenge. We will not quote it without that base. Eleven of the twelve attribute values in that row appear nowhere in its input, so no method without manufacturer retrieval scores much higher. That is why we also report a measure needing no labels at all: sibling agreement, 99.5% over 1,516 comparisons across all 1,000 rows.</a:t>
            </a:r>
          </a:p>
        </p:txBody>
      </p:sp>
      <p:sp>
        <p:nvSpPr>
          <p:cNvPr id="5" name="TextBox 4"/>
          <p:cNvSpPr txBox="1"/>
          <p:nvPr/>
        </p:nvSpPr>
        <p:spPr>
          <a:xfrm>
            <a:off x="475488" y="2468880"/>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“Why not just prompt a strong model and skip the rules?”</a:t>
            </a:r>
          </a:p>
          <a:p>
            <a:pPr>
              <a:lnSpc>
                <a:spcPct val="122000"/>
              </a:lnSpc>
              <a:spcAft>
                <a:spcPts val="0"/>
              </a:spcAft>
            </a:pPr>
            <a:r>
              <a:rPr sz="950" b="0">
                <a:solidFill>
                  <a:srgbClr val="1B2432"/>
                </a:solidFill>
                <a:latin typeface="Calibri"/>
              </a:rPr>
              <a:t>We do use a model — as a proposer and an auditor. What we do not do is let it write a cell. A model that writes has to be checked afterwards, and by then a wrong value is in the catalogue and looks exactly like a right one. Here a proposal is discarded unless its quote is literally present in the source, so the failure mode is a missing value, which is visible, rather than a plausible wrong one, which is not.</a:t>
            </a:r>
          </a:p>
        </p:txBody>
      </p:sp>
      <p:sp>
        <p:nvSpPr>
          <p:cNvPr id="6" name="TextBox 5"/>
          <p:cNvSpPr txBox="1"/>
          <p:nvPr/>
        </p:nvSpPr>
        <p:spPr>
          <a:xfrm>
            <a:off x="475488" y="3547872"/>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“Rules are brittle. What happens on a category you have never seen?”</a:t>
            </a:r>
          </a:p>
          <a:p>
            <a:pPr>
              <a:lnSpc>
                <a:spcPct val="122000"/>
              </a:lnSpc>
              <a:spcAft>
                <a:spcPts val="0"/>
              </a:spcAft>
            </a:pPr>
            <a:r>
              <a:rPr sz="950" b="0">
                <a:solidFill>
                  <a:srgbClr val="1B2432"/>
                </a:solidFill>
                <a:latin typeface="Calibri"/>
              </a:rPr>
              <a:t>It abstains, and says so. 88.8% of rows are classified; the rest are flagged and routed to review rather than guessed, because a wrong classpath is worse than an empty one — attribute validation is keyed on it. The category specifications are induced from the rows themselves, so a category we have never seen produces a new spec without anyone writing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93192" y="777240"/>
            <a:ext cx="8366760" cy="557784"/>
          </a:xfrm>
          <a:prstGeom prst="rect">
            <a:avLst/>
          </a:prstGeom>
          <a:noFill/>
        </p:spPr>
        <p:txBody>
          <a:bodyPr wrap="square" lIns="0" rIns="0" tIns="0" bIns="0">
            <a:spAutoFit/>
          </a:bodyPr>
          <a:lstStyle/>
          <a:p>
            <a:r>
              <a:rPr sz="1800">
                <a:solidFill>
                  <a:srgbClr val="000000"/>
                </a:solidFill>
                <a:latin typeface="Google Sans"/>
              </a:rPr>
              <a:t>Questions you might ask (2 of 3)</a:t>
            </a:r>
          </a:p>
        </p:txBody>
      </p:sp>
      <p:sp>
        <p:nvSpPr>
          <p:cNvPr id="4" name="TextBox 3"/>
          <p:cNvSpPr txBox="1"/>
          <p:nvPr/>
        </p:nvSpPr>
        <p:spPr>
          <a:xfrm>
            <a:off x="475488" y="1389888"/>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“Where does the AI add value if it cannot write a cell?”</a:t>
            </a:r>
          </a:p>
          <a:p>
            <a:pPr>
              <a:lnSpc>
                <a:spcPct val="122000"/>
              </a:lnSpc>
              <a:spcAft>
                <a:spcPts val="0"/>
              </a:spcAft>
            </a:pPr>
            <a:r>
              <a:rPr sz="950" b="0">
                <a:solidFill>
                  <a:srgbClr val="1B2432"/>
                </a:solidFill>
                <a:latin typeface="Calibri"/>
              </a:rPr>
              <a:t>Two places, both auditable. </a:t>
            </a:r>
            <a:r>
              <a:rPr sz="950" b="1">
                <a:solidFill>
                  <a:srgbClr val="1B2432"/>
                </a:solidFill>
                <a:latin typeface="Calibri"/>
              </a:rPr>
              <a:t>Recall:</a:t>
            </a:r>
            <a:r>
              <a:rPr sz="950" b="0">
                <a:solidFill>
                  <a:srgbClr val="1B2432"/>
                </a:solidFill>
                <a:latin typeface="Calibri"/>
              </a:rPr>
              <a:t> on rows the rules cannot resolve it proposes a fact, kept only if the quote is in the source. </a:t>
            </a:r>
            <a:r>
              <a:rPr sz="950" b="1">
                <a:solidFill>
                  <a:srgbClr val="1B2432"/>
                </a:solidFill>
                <a:latin typeface="Calibri"/>
              </a:rPr>
              <a:t>Judgement:</a:t>
            </a:r>
            <a:r>
              <a:rPr sz="950" b="0">
                <a:solidFill>
                  <a:srgbClr val="1B2432"/>
                </a:solidFill>
                <a:latin typeface="Calibri"/>
              </a:rPr>
              <a:t> it returns supported / unsupported / unknown on facts that already exist, which moves confidence and routes review. Turning the key off costs recall on hard rows. It never costs correctness.</a:t>
            </a:r>
          </a:p>
        </p:txBody>
      </p:sp>
      <p:sp>
        <p:nvSpPr>
          <p:cNvPr id="5" name="TextBox 4"/>
          <p:cNvSpPr txBox="1"/>
          <p:nvPr/>
        </p:nvSpPr>
        <p:spPr>
          <a:xfrm>
            <a:off x="475488" y="2468880"/>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“The attributes are not in the supplier row. How will you ever fill them?”</a:t>
            </a:r>
          </a:p>
          <a:p>
            <a:pPr>
              <a:lnSpc>
                <a:spcPct val="122000"/>
              </a:lnSpc>
              <a:spcAft>
                <a:spcPts val="0"/>
              </a:spcAft>
            </a:pPr>
            <a:r>
              <a:rPr sz="950" b="0">
                <a:solidFill>
                  <a:srgbClr val="1B2432"/>
                </a:solidFill>
                <a:latin typeface="Calibri"/>
              </a:rPr>
              <a:t>Manufacturer retrieval — and it is the highest-value thing we could build next, which is why we measured the gap instead of claiming to have closed it. The Fact and Evidence types do not care whether a quote came from a description or a datasheet, so retrieved content enters under exactly the same rule: no evidence, no fact.</a:t>
            </a:r>
          </a:p>
        </p:txBody>
      </p:sp>
      <p:sp>
        <p:nvSpPr>
          <p:cNvPr id="6" name="TextBox 5"/>
          <p:cNvSpPr txBox="1"/>
          <p:nvPr/>
        </p:nvSpPr>
        <p:spPr>
          <a:xfrm>
            <a:off x="475488" y="3547872"/>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“What does the human in the loop actually cost?”</a:t>
            </a:r>
          </a:p>
          <a:p>
            <a:pPr>
              <a:lnSpc>
                <a:spcPct val="122000"/>
              </a:lnSpc>
              <a:spcAft>
                <a:spcPts val="0"/>
              </a:spcAft>
            </a:pPr>
            <a:r>
              <a:rPr sz="950" b="0">
                <a:solidFill>
                  <a:srgbClr val="1B2432"/>
                </a:solidFill>
                <a:latin typeface="Calibri"/>
              </a:rPr>
              <a:t>77.4% of rows need no human at all. The rest arrive as a queue ranked by how much the review is worth, not alphabetically, so the first hour of reviewer time is spent where it pays. Every decision a reviewer makes is captured with the fact it overrode and replays on future runs — the deterministic path absorbs their judgement permanently.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393192" y="777240"/>
            <a:ext cx="8366760" cy="557784"/>
          </a:xfrm>
          <a:prstGeom prst="rect">
            <a:avLst/>
          </a:prstGeom>
          <a:noFill/>
        </p:spPr>
        <p:txBody>
          <a:bodyPr wrap="square" lIns="0" rIns="0" tIns="0" bIns="0">
            <a:spAutoFit/>
          </a:bodyPr>
          <a:lstStyle/>
          <a:p>
            <a:r>
              <a:rPr sz="1800">
                <a:solidFill>
                  <a:srgbClr val="000000"/>
                </a:solidFill>
                <a:latin typeface="Google Sans"/>
              </a:rPr>
              <a:t>Questions you might ask (3 of 3)</a:t>
            </a:r>
          </a:p>
        </p:txBody>
      </p:sp>
      <p:sp>
        <p:nvSpPr>
          <p:cNvPr id="4" name="TextBox 3"/>
          <p:cNvSpPr txBox="1"/>
          <p:nvPr/>
        </p:nvSpPr>
        <p:spPr>
          <a:xfrm>
            <a:off x="475488" y="1389888"/>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“How does it scale, and what does it cost to run?”</a:t>
            </a:r>
          </a:p>
          <a:p>
            <a:pPr>
              <a:lnSpc>
                <a:spcPct val="122000"/>
              </a:lnSpc>
              <a:spcAft>
                <a:spcPts val="0"/>
              </a:spcAft>
            </a:pPr>
            <a:r>
              <a:rPr sz="950" b="0">
                <a:solidFill>
                  <a:srgbClr val="1B2432"/>
                </a:solidFill>
                <a:latin typeface="Calibri"/>
              </a:rPr>
              <a:t>About three seconds per 1,000 rows on one core, single threaded, with no network call — roughly one CPU-hour per million SKUs, and it is linear because there is no model in the default path. The optional model pass touches only the rows the rules could not resolve, about 12%, and caches its answers.</a:t>
            </a:r>
          </a:p>
        </p:txBody>
      </p:sp>
      <p:sp>
        <p:nvSpPr>
          <p:cNvPr id="5" name="TextBox 4"/>
          <p:cNvSpPr txBox="1"/>
          <p:nvPr/>
        </p:nvSpPr>
        <p:spPr>
          <a:xfrm>
            <a:off x="475488" y="2468880"/>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“Does our catalogue leave our network?”</a:t>
            </a:r>
          </a:p>
          <a:p>
            <a:pPr>
              <a:lnSpc>
                <a:spcPct val="122000"/>
              </a:lnSpc>
              <a:spcAft>
                <a:spcPts val="0"/>
              </a:spcAft>
            </a:pPr>
            <a:r>
              <a:rPr sz="950" b="0">
                <a:solidFill>
                  <a:srgbClr val="1B2432"/>
                </a:solidFill>
                <a:latin typeface="Calibri"/>
              </a:rPr>
              <a:t>Not in the default path — there is no network call to make. If you enable the model layer, only the unresolved rows are sent, to the provider you choose, with your key. On the hosted demo that key is held in process memory for one request: never written to disk, never logged, never returned to the browser.</a:t>
            </a:r>
          </a:p>
        </p:txBody>
      </p:sp>
      <p:sp>
        <p:nvSpPr>
          <p:cNvPr id="6" name="TextBox 5"/>
          <p:cNvSpPr txBox="1"/>
          <p:nvPr/>
        </p:nvSpPr>
        <p:spPr>
          <a:xfrm>
            <a:off x="475488" y="3547872"/>
            <a:ext cx="8193024" cy="1024128"/>
          </a:xfrm>
          <a:prstGeom prst="rect">
            <a:avLst/>
          </a:prstGeom>
          <a:noFill/>
        </p:spPr>
        <p:txBody>
          <a:bodyPr wrap="square" lIns="0" rIns="0" tIns="0" bIns="0">
            <a:spAutoFit/>
          </a:bodyPr>
          <a:lstStyle/>
          <a:p>
            <a:pPr algn="l">
              <a:lnSpc>
                <a:spcPct val="105000"/>
              </a:lnSpc>
              <a:spcAft>
                <a:spcPts val="300"/>
              </a:spcAft>
            </a:pPr>
            <a:r>
              <a:rPr sz="1150" b="1" i="0">
                <a:solidFill>
                  <a:srgbClr val="00386F"/>
                </a:solidFill>
                <a:latin typeface="Calibri"/>
              </a:rPr>
              <a:t>“Zero third-party packages — is that a gimmick?”</a:t>
            </a:r>
          </a:p>
          <a:p>
            <a:pPr>
              <a:lnSpc>
                <a:spcPct val="122000"/>
              </a:lnSpc>
              <a:spcAft>
                <a:spcPts val="0"/>
              </a:spcAft>
            </a:pPr>
            <a:r>
              <a:rPr sz="950" b="0">
                <a:solidFill>
                  <a:srgbClr val="1B2432"/>
                </a:solidFill>
                <a:latin typeface="Calibri"/>
              </a:rPr>
              <a:t>It is load bearing. CSV and XLSX are both read and written with zipfile and XML directly, so the pipeline runs on an air-gapped machine, the container is stock Python plus source, and no build can break because a wheel moved. Gradio is the single dependency and it exists only to put a URL in front of it.</a:t>
            </a:r>
          </a:p>
        </p:txBody>
      </p:sp>
      <p:sp>
        <p:nvSpPr>
          <p:cNvPr id="7" name="Rectangle 6"/>
          <p:cNvSpPr/>
          <p:nvPr/>
        </p:nvSpPr>
        <p:spPr>
          <a:xfrm>
            <a:off x="475488" y="4443984"/>
            <a:ext cx="8193024" cy="9525"/>
          </a:xfrm>
          <a:prstGeom prst="rect">
            <a:avLst/>
          </a:prstGeom>
          <a:solidFill>
            <a:srgbClr val="D5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4553712"/>
            <a:ext cx="8193024" cy="457200"/>
          </a:xfrm>
          <a:prstGeom prst="rect">
            <a:avLst/>
          </a:prstGeom>
          <a:noFill/>
        </p:spPr>
        <p:txBody>
          <a:bodyPr wrap="square" lIns="0" rIns="0" tIns="0" bIns="0">
            <a:spAutoFit/>
          </a:bodyPr>
          <a:lstStyle/>
          <a:p>
            <a:pPr algn="l">
              <a:spcAft>
                <a:spcPts val="0"/>
              </a:spcAft>
            </a:pPr>
            <a:r>
              <a:rPr sz="1050" b="1" i="0">
                <a:solidFill>
                  <a:srgbClr val="0B5FA5"/>
                </a:solidFill>
                <a:latin typeface="Calibri"/>
              </a:rPr>
              <a:t>If you only do one thing: open the prototype and click a row. Everything above is visible in that one panel.</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