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 </a:t>
            </a:r>
            <a:r>
              <a:rPr b="1" sz="1800">
                <a:solidFill>
                  <a:srgbClr val="B03021"/>
                </a:solidFill>
              </a:rPr>
              <a:t>&lt;&lt;&lt; FILL IN &gt;&gt;&gt;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 </a:t>
            </a:r>
            <a:r>
              <a:rPr b="1" sz="1800">
                <a:solidFill>
                  <a:srgbClr val="B03021"/>
                </a:solidFill>
              </a:rPr>
              <a:t>&lt;&lt;&lt; FILL IN &gt;&gt;&gt;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475488" y="1444752"/>
            <a:ext cx="8193024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350" b="0">
                <a:solidFill>
                  <a:srgbClr val="1B2432"/>
                </a:solidFill>
                <a:latin typeface="Calibri"/>
              </a:rPr>
              <a:t>CALIPER turns a messy supplier row into Unilog's </a:t>
            </a:r>
            <a:r>
              <a:rPr sz="1350" b="1">
                <a:solidFill>
                  <a:srgbClr val="1B2432"/>
                </a:solidFill>
                <a:latin typeface="Calibri"/>
              </a:rPr>
              <a:t>252-column delivery format</a:t>
            </a:r>
            <a:r>
              <a:rPr sz="1350" b="0">
                <a:solidFill>
                  <a:srgbClr val="1B2432"/>
                </a:solidFill>
                <a:latin typeface="Calibri"/>
              </a:rPr>
              <a:t> — and can show you why it wrote every single cell.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1B2432"/>
                </a:solidFill>
                <a:latin typeface="Calibri"/>
              </a:rPr>
              <a:t>Most pipelines hand the row to a language model and validate what comes back. CALIPER makes that structurally impossible. Every extractor — rules, the brand registry, the taxonomy, family consensus and the model — writes into one typed </a:t>
            </a:r>
            <a:r>
              <a:rPr sz="1150" b="1">
                <a:solidFill>
                  <a:srgbClr val="00386F"/>
                </a:solidFill>
                <a:latin typeface="Calibri"/>
              </a:rPr>
              <a:t>Product Fact Graph, where a fact without evidence is rejected at insertion</a:t>
            </a:r>
            <a:r>
              <a:rPr sz="1150" b="0">
                <a:solidFill>
                  <a:srgbClr val="1B2432"/>
                </a:solidFill>
                <a:latin typeface="Calibri"/>
              </a:rPr>
              <a:t>. Composition, validation and export only ever read from it. The model is never permitted to write an output cell: it may propose a fact that quotes the source, or judge a fact that already exists.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5488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1,000 → 252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rows to columns, in ~3 seconds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523744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100%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INVOICE_DESC within 40 characters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72000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99.5%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sibling agreement, 1,516 comparisons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620256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26,627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cells carrying their own evidence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5488" y="3611880"/>
            <a:ext cx="819302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Runs with no API key and no third-party packages. </a:t>
            </a:r>
            <a:r>
              <a:rPr sz="1150" b="0">
                <a:solidFill>
                  <a:srgbClr val="1B2432"/>
                </a:solidFill>
                <a:latin typeface="Calibri"/>
              </a:rPr>
              <a:t>A judge opens the link and 1,000 real industrial SKUs are already enriched; clicking any row reveals the rule that produced each value and the exact characters of the input that justified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1. How does your solution enrich minimal product information?</a:t>
            </a:r>
            <a:endParaRPr sz="1200"/>
          </a:p>
        </p:txBody>
      </p:sp>
      <p:sp>
        <p:nvSpPr>
          <p:cNvPr id="120" name="TextBox 119"/>
          <p:cNvSpPr txBox="1"/>
          <p:nvPr/>
        </p:nvSpPr>
        <p:spPr>
          <a:xfrm>
            <a:off x="475488" y="1243584"/>
            <a:ext cx="819302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Input is six columns</a:t>
            </a:r>
            <a:r>
              <a:rPr sz="1150" b="0">
                <a:solidFill>
                  <a:srgbClr val="1B2432"/>
                </a:solidFill>
                <a:latin typeface="Calibri"/>
              </a:rPr>
              <a:t> — part number, description, three inconsistent brand fields and a manufacturer string. From that, CALIPER derives facts and never invents them: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Parse, don't guess.  </a:t>
            </a:r>
            <a:r>
              <a:rPr sz="1050" b="0">
                <a:solidFill>
                  <a:srgbClr val="1B2432"/>
                </a:solidFill>
                <a:latin typeface="Calibri"/>
              </a:rPr>
              <a:t>Dimensions, grits, wattages, counts and materials are lifted from the description by typed rules. Each becomes a fact carrying the exact substring it came from: a description reading 6 in x .045 in x 7/8 in yields three separate measurements, each traceable.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Resolve identity against a registry.  </a:t>
            </a:r>
            <a:r>
              <a:rPr sz="1050" b="0">
                <a:solidFill>
                  <a:srgbClr val="1B2432"/>
                </a:solidFill>
                <a:latin typeface="Calibri"/>
              </a:rPr>
              <a:t>"Milw" becomes Milwaukee®; distributor noise like "(4031)" is stripped. Where brand and manufacturer disagree, that is reported as a defect in the supplier's data rather than silently overwritten.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Borrow from siblings, with corroboration.  </a:t>
            </a:r>
            <a:r>
              <a:rPr sz="1050" b="0">
                <a:solidFill>
                  <a:srgbClr val="1B2432"/>
                </a:solidFill>
                <a:latin typeface="Calibri"/>
              </a:rPr>
              <a:t>Products are clustered into families by part-number and description shape. A fact missing on one row is filled only when at least two agreeing siblings supply it — and disagreement lowers confidence.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Induce the category rulebook from the data.  </a:t>
            </a:r>
            <a:r>
              <a:rPr sz="1050" b="0">
                <a:solidFill>
                  <a:srgbClr val="1B2432"/>
                </a:solidFill>
                <a:latin typeface="Calibri"/>
              </a:rPr>
              <a:t>Which attributes a category has, and which are filterable, is derived from the rows themselves with a fill rate behind every attribute — the work normally done by hand for tens of thousands of categories.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Compose to the format, not to a prompt.  </a:t>
            </a:r>
            <a:r>
              <a:rPr sz="1050" b="0">
                <a:solidFill>
                  <a:srgbClr val="1B2432"/>
                </a:solidFill>
                <a:latin typeface="Calibri"/>
              </a:rPr>
              <a:t>Five descriptions are generated from the same facts under their own length and casing rules, so they cannot contradict each other.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475488" y="2221992"/>
            <a:ext cx="819302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How different is it from existing ideas?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50" b="0" i="0">
                <a:solidFill>
                  <a:srgbClr val="1B2432"/>
                </a:solidFill>
                <a:latin typeface="Calibri"/>
              </a:rPr>
              <a:t>Every other approach we found prompts a model and validates afterwards, so a wrong value has already been written. CALIPER inverts the control flow: the model cannot reach an output cell at all. It proposes facts that must quote the source, or audits facts that already exist — and an unquoted proposal is discarded, not corrected.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How does it solve the problem statement?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50" b="0" i="0">
                <a:solidFill>
                  <a:srgbClr val="1B2432"/>
                </a:solidFill>
                <a:latin typeface="Calibri"/>
              </a:rPr>
              <a:t>It produces all 252 delivery columns from six, at ~3 seconds per 1,000 rows, with 77.4% of rows ready to publish unattended and the remainder routed to a review queue ranked by how much that review is worth. It also reports defects it finds in the supplier's own catalogue.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USP of the proposed solution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50" b="0" i="0">
                <a:solidFill>
                  <a:srgbClr val="1B2432"/>
                </a:solidFill>
                <a:latin typeface="Calibri"/>
              </a:rPr>
              <a:t>Auditability as an architectural guarantee, not a report. 26,627 populated cells each carry a rule id, a confidence and the source characters behind them. Because two labelled rows cannot support a claim, we also publish a label-free measure — sibling agreement across all 1,000 rows, 99.5% over 1,516 comparisons.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475488" y="1719072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85216" y="1819656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Evidence panel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Click a row: every populated column shows its method, rule id, confidence and the source substring.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255264" y="1719072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364992" y="1819656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Character-budget solver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INVOICE_DESC's 40-character upper-case ceiling solved as a budget problem. 100% compliant by construction.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35040" y="1719072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44768" y="1819656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Schema detection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Column roles are detected, not assumed — the same pipeline runs on a file whose headers it has never seen.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75488" y="2670048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85216" y="2770632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Category-spec induction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Unilog-style category rulebooks derived from the rows, with a fill rate behind every attribute.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55264" y="2670048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364992" y="2770632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Family consensus + anomaly flags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Gaps filled only from corroborating siblings; rows that break their family pattern are surfaced.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035040" y="2670048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44768" y="2770632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Physical guardrails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Domain ranges and dimensional coherence. These caught a bug in our own parser.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75488" y="3621024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5216" y="3721608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Findings on the source data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Brand/manufacturer conflicts and unresolvable rows reported rather than absorbed.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255264" y="3621024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364992" y="3721608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Review queue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The rows a human should look at, ranked by the value of looking.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035040" y="3621024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144768" y="3721608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Optional model, firewalled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Bring your own key for extra recall. Held in memory only; proposals without a verbatim quote are discarded.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530352" y="1682496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1792" y="1773936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1 · Ingest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CSV or XLSX read
with the standard library</a:t>
            </a:r>
          </a:p>
        </p:txBody>
      </p:sp>
      <p:sp>
        <p:nvSpPr>
          <p:cNvPr id="140" name="Right Arrow 139"/>
          <p:cNvSpPr/>
          <p:nvPr/>
        </p:nvSpPr>
        <p:spPr>
          <a:xfrm>
            <a:off x="3099816" y="2002536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401568" y="1682496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493008" y="1773936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2 · Detect schema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Column roles inferred
from headers and values</a:t>
            </a:r>
          </a:p>
        </p:txBody>
      </p:sp>
      <p:sp>
        <p:nvSpPr>
          <p:cNvPr id="143" name="Right Arrow 142"/>
          <p:cNvSpPr/>
          <p:nvPr/>
        </p:nvSpPr>
        <p:spPr>
          <a:xfrm>
            <a:off x="5971032" y="2002536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272784" y="1682496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364224" y="1773936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3 · Extract facts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Typed rules, registry, taxonomy.
No evidence, no fact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30352" y="2980944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21792" y="3072384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4 · Corroborate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Family clustering; gaps filled
only by agreeing siblings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3099816" y="3300984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401568" y="2980944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93008" y="3072384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5 · Compose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Five descriptions from one
fact set, under their limits</a:t>
            </a:r>
          </a:p>
        </p:txBody>
      </p:sp>
      <p:sp>
        <p:nvSpPr>
          <p:cNvPr id="151" name="Right Arrow 150"/>
          <p:cNvSpPr/>
          <p:nvPr/>
        </p:nvSpPr>
        <p:spPr>
          <a:xfrm>
            <a:off x="5971032" y="3300984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72784" y="2980944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364224" y="3072384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6 · Validate &amp; route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Guardrails, then ready
or review queue</a:t>
            </a:r>
          </a:p>
        </p:txBody>
      </p:sp>
      <p:sp>
        <p:nvSpPr>
          <p:cNvPr id="154" name="Down Arrow 153"/>
          <p:cNvSpPr/>
          <p:nvPr/>
        </p:nvSpPr>
        <p:spPr>
          <a:xfrm>
            <a:off x="7443216" y="2596896"/>
            <a:ext cx="146304" cy="274320"/>
          </a:xfrm>
          <a:prstGeom prst="down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75488" y="4206240"/>
            <a:ext cx="819302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0386F"/>
                </a:solidFill>
                <a:latin typeface="Calibri"/>
              </a:rPr>
              <a:t>The one-way rule: </a:t>
            </a:r>
            <a:r>
              <a:rPr sz="1050" b="0">
                <a:solidFill>
                  <a:srgbClr val="1B2432"/>
                </a:solidFill>
                <a:latin typeface="Calibri"/>
              </a:rPr>
              <a:t>steps 1–4 write facts into the graph. Steps 5–6 only read from it. A model may join step 3 as a proposer whose quote is checked against the source, or step 6 as an auditor — it is never given write access to an output column.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4" name="Picture 143" descr="panel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99" y="1536192"/>
            <a:ext cx="3983025" cy="2889503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4736592" y="1572768"/>
            <a:ext cx="393192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The interface, in the order a judge meets it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It is already running.  </a:t>
            </a:r>
            <a:r>
              <a:rPr sz="950" b="0">
                <a:solidFill>
                  <a:srgbClr val="1B2432"/>
                </a:solidFill>
                <a:latin typeface="Calibri"/>
              </a:rPr>
              <a:t>The page enriches 1,000 SKUs on load. No button, no key, no setup — the first ten seconds show output, not a form.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Upload, or use the sample.  </a:t>
            </a:r>
            <a:r>
              <a:rPr sz="950" b="0">
                <a:solidFill>
                  <a:srgbClr val="1B2432"/>
                </a:solidFill>
                <a:latin typeface="Calibri"/>
              </a:rPr>
              <a:t>Drop in any catalogue CSV. Column roles are detected and printed back.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The model is opt-in.  </a:t>
            </a:r>
            <a:r>
              <a:rPr sz="950" b="0">
                <a:solidFill>
                  <a:srgbClr val="1B2432"/>
                </a:solidFill>
                <a:latin typeface="Calibri"/>
              </a:rPr>
              <a:t>Ticking the box reveals a provider and a key field. Left alone, the deterministic path still fills all 252 columns.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Then: catalogue, evidence, findings, induced specs, downloads.  </a:t>
            </a:r>
            <a:r>
              <a:rPr sz="950" b="0">
                <a:solidFill>
                  <a:srgbClr val="1B2432"/>
                </a:solidFill>
                <a:latin typeface="Calibri"/>
              </a:rPr>
              <a:t>Five tabs, in that order — the evidence panel sits directly under the table so one click explains a row.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5488" y="4480560"/>
            <a:ext cx="8193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678"/>
                </a:solidFill>
                <a:latin typeface="Calibri"/>
              </a:rPr>
              <a:t>Screenshot of the running prototype, light theme; the page also renders correctly in dark mode.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475488" y="1682496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66928" y="1773936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Rule extractors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75488" y="2066544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66928" y="2157984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Brand / manufacturer registry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75488" y="2450592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6928" y="2542032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Taxonomy + induced specs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75488" y="2834640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2926080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Family consensus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75488" y="3218688"/>
            <a:ext cx="2103120" cy="310896"/>
          </a:xfrm>
          <a:prstGeom prst="rect">
            <a:avLst/>
          </a:prstGeom>
          <a:solidFill>
            <a:srgbClr val="FDF4E2"/>
          </a:solidFill>
          <a:ln w="9525">
            <a:solidFill>
              <a:srgbClr val="E0C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66928" y="3310128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8A6417"/>
                </a:solidFill>
                <a:latin typeface="Calibri"/>
              </a:rPr>
              <a:t>Model proposer (quotes only)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5488" y="1444752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5A6678"/>
                </a:solidFill>
                <a:latin typeface="Calibri"/>
              </a:rPr>
              <a:t>WRITE</a:t>
            </a:r>
          </a:p>
        </p:txBody>
      </p:sp>
      <p:sp>
        <p:nvSpPr>
          <p:cNvPr id="161" name="Right Arrow 160"/>
          <p:cNvSpPr/>
          <p:nvPr/>
        </p:nvSpPr>
        <p:spPr>
          <a:xfrm>
            <a:off x="2633472" y="1764792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ight Arrow 161"/>
          <p:cNvSpPr/>
          <p:nvPr/>
        </p:nvSpPr>
        <p:spPr>
          <a:xfrm>
            <a:off x="2633472" y="2148840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ight Arrow 162"/>
          <p:cNvSpPr/>
          <p:nvPr/>
        </p:nvSpPr>
        <p:spPr>
          <a:xfrm>
            <a:off x="2633472" y="2532888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ight Arrow 163"/>
          <p:cNvSpPr/>
          <p:nvPr/>
        </p:nvSpPr>
        <p:spPr>
          <a:xfrm>
            <a:off x="2633472" y="2916936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ight Arrow 164"/>
          <p:cNvSpPr/>
          <p:nvPr/>
        </p:nvSpPr>
        <p:spPr>
          <a:xfrm>
            <a:off x="2633472" y="3300984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962656" y="1682496"/>
            <a:ext cx="2834640" cy="1847088"/>
          </a:xfrm>
          <a:prstGeom prst="rect">
            <a:avLst/>
          </a:prstGeom>
          <a:solidFill>
            <a:srgbClr val="ECF3FA"/>
          </a:solidFill>
          <a:ln w="9525">
            <a:solidFill>
              <a:srgbClr val="0038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072384" y="1810512"/>
            <a:ext cx="2615184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00386F"/>
                </a:solidFill>
                <a:latin typeface="Calibri"/>
              </a:rPr>
              <a:t>PRODUCT FACT GRAPH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Typed facts, each with evidence,
confidence and provenance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950" b="1" i="0">
                <a:solidFill>
                  <a:srgbClr val="B03021"/>
                </a:solidFill>
                <a:latin typeface="Calibri"/>
              </a:rPr>
              <a:t>A fact without evidence is
rejected at insertion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Agreement raises confidence.
Conflict lowers it.</a:t>
            </a:r>
          </a:p>
        </p:txBody>
      </p:sp>
      <p:sp>
        <p:nvSpPr>
          <p:cNvPr id="168" name="Right Arrow 167"/>
          <p:cNvSpPr/>
          <p:nvPr/>
        </p:nvSpPr>
        <p:spPr>
          <a:xfrm>
            <a:off x="5852160" y="1956816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ight Arrow 168"/>
          <p:cNvSpPr/>
          <p:nvPr/>
        </p:nvSpPr>
        <p:spPr>
          <a:xfrm>
            <a:off x="5852160" y="2340864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ight Arrow 169"/>
          <p:cNvSpPr/>
          <p:nvPr/>
        </p:nvSpPr>
        <p:spPr>
          <a:xfrm>
            <a:off x="5852160" y="2724912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ight Arrow 170"/>
          <p:cNvSpPr/>
          <p:nvPr/>
        </p:nvSpPr>
        <p:spPr>
          <a:xfrm>
            <a:off x="5852160" y="3108960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181344" y="1901952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272783" y="1993392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Description composer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181344" y="2286000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272783" y="2377440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Validator + guardrails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181344" y="2670048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272783" y="2761488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252-column exporter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181344" y="3054096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272783" y="3145536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Evidence panel / review queue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181344" y="1444752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5A6678"/>
                </a:solidFill>
                <a:latin typeface="Calibri"/>
              </a:rPr>
              <a:t>READ ONLY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5488" y="3712464"/>
            <a:ext cx="81930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0386F"/>
                </a:solidFill>
                <a:latin typeface="Calibri"/>
              </a:rPr>
              <a:t>The boundary is one-way and that is the whole design. </a:t>
            </a:r>
            <a:r>
              <a:rPr sz="1050" b="0">
                <a:solidFill>
                  <a:srgbClr val="1B2432"/>
                </a:solidFill>
                <a:latin typeface="Calibri"/>
              </a:rPr>
              <a:t>Readers cannot create values; writers cannot skip evidence. A model sits on the left as a proposer whose quote is verified against the source, and on the right as an auditor returning supported / unsupported / unknown — in neither role can it originate a cell.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475488" y="1700784"/>
            <a:ext cx="8193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0386F"/>
                </a:solidFill>
                <a:latin typeface="Calibri"/>
              </a:rPr>
              <a:t>Python 3.12, standard library only. </a:t>
            </a:r>
            <a:r>
              <a:rPr sz="1100" b="0">
                <a:solidFill>
                  <a:srgbClr val="1B2432"/>
                </a:solidFill>
                <a:latin typeface="Calibri"/>
              </a:rPr>
              <a:t>The pipeline imports nothing outside the stdlib — CSV and XLSX are read and written with zipfile and XML directly. There is no pandas, no openpyxl, no ML framework and no dependency that can break a build.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75488" y="2340864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03504" y="2432304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Core pipeline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Python 3.12 · standard library only · no packages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645152" y="2340864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773168" y="2432304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Data I/O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csv, zipfile, xml.etree — XLSX written by hand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75488" y="2999232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03504" y="3090672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Prototype UI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Gradio 6 on Hugging Face Spaces (the one dependency)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645152" y="2999232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773168" y="3090672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Optional model layer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Provider-neutral adapter: Groq, Gemini, Anthropic, OpenAI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5488" y="3657600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03504" y="3749039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Model governance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Evidence firewall, redundancy guard, verdict-only auditing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645152" y="3657600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773168" y="3749039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Quality assurance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42 invariant tests; evaluation against the published answer key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75488" y="4462272"/>
            <a:ext cx="81930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A6678"/>
                </a:solidFill>
                <a:latin typeface="Calibri"/>
              </a:rPr>
              <a:t>Consequence: a judge can clone the repository and run the whole pipeline with one command, on a machine with no network access.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75488" y="1645920"/>
            <a:ext cx="819302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Running the deterministic pipeline costs nothing but CPU.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75488" y="215798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21792" y="224028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Deterministic enrichment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01568" y="224028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₹0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193792" y="224028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No API calls. ~3 s per 1,000 rows on one core; ~1 CPU-hour per 1M SKUs.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75488" y="288950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1792" y="297180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Hosting the prototype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01568" y="297180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₹0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93792" y="297180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Hugging Face Spaces free tier.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75488" y="362102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21792" y="370332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Optional model pass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370332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≈ ₹40–90 per 10,000 rows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193792" y="370332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Only rows the rules cannot resolve are sent — roughly 12% of the catalogue — and results are cached on disk.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475488" y="435254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21792" y="443484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Human review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401568" y="443484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Scales with the queue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193792" y="443484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77.4% of rows need no human. The queue is ranked, so reviewer time goes to the rows where it pays.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 167" descr="evi_close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517904"/>
            <a:ext cx="8193024" cy="2328184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69" name="TextBox 168"/>
          <p:cNvSpPr txBox="1"/>
          <p:nvPr/>
        </p:nvSpPr>
        <p:spPr>
          <a:xfrm>
            <a:off x="475488" y="3968496"/>
            <a:ext cx="819302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00386F"/>
                </a:solidFill>
                <a:latin typeface="Calibri"/>
              </a:rPr>
              <a:t>Three columns of one row, as the prototype explains them. </a:t>
            </a:r>
            <a:r>
              <a:rPr sz="1050" b="0">
                <a:solidFill>
                  <a:srgbClr val="1B2432"/>
                </a:solidFill>
                <a:latin typeface="Calibri"/>
              </a:rPr>
              <a:t>Each shows the method (rule, registry), the rule id, a confidence, and in the gold quote the exact characters of the input that justified the value — with the column they came from. BRAND_NAME became Milwaukee® because the four characters “milw” appear in Part_Desc and resolve against the approved brand registry; nothing here was generated.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5A6678"/>
                </a:solidFill>
                <a:latin typeface="Calibri"/>
              </a:rPr>
              <a:t>26,627 populated cells across the catalogue carry provenance of this kind, produced by the pipeline rather than written afterwards as a report. Reproduce this panel by clicking any row at huggingface.co/spaces/jacklachan/unihack.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475488" y="1627632"/>
            <a:ext cx="81930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What the measurements told us to build next.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Manufacturer retrieval is the real ceiling.  </a:t>
            </a:r>
            <a:r>
              <a:rPr sz="1050" b="0">
                <a:solidFill>
                  <a:srgbClr val="1B2432"/>
                </a:solidFill>
                <a:latin typeface="Calibri"/>
              </a:rPr>
              <a:t>Eleven of the twelve attribute values in the labelled row appear nowhere in its input. No amount of prompting recovers them — they have to be fetched from manufacturer sources and then held to the same evidence rule as everything else. This is the single highest-value extension.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A larger answer key.  </a:t>
            </a:r>
            <a:r>
              <a:rPr sz="1050" b="0">
                <a:solidFill>
                  <a:srgbClr val="1B2432"/>
                </a:solidFill>
                <a:latin typeface="Calibri"/>
              </a:rPr>
              <a:t>Accuracy is 48.0% exact on two labelled rows. That base is too narrow to carry a claim, which is why we report sibling agreement alongside it. With a few hundred labelled rows the same harness reports a real number.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Learning from corrections.  </a:t>
            </a:r>
            <a:r>
              <a:rPr sz="1050" b="0">
                <a:solidFill>
                  <a:srgbClr val="1B2432"/>
                </a:solidFill>
                <a:latin typeface="Calibri"/>
              </a:rPr>
              <a:t>Every reviewer edit is already captured with the fact it overrode. Feeding those back as registry and vocabulary entries makes the deterministic path absorb the reviewer's judgement permanently.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Image and document evidence.  </a:t>
            </a:r>
            <a:r>
              <a:rPr sz="1050" b="0">
                <a:solidFill>
                  <a:srgbClr val="1B2432"/>
                </a:solidFill>
                <a:latin typeface="Calibri"/>
              </a:rPr>
              <a:t>The Fact/Evidence type does not care whether a quote came from text or from a spec sheet. Extending the evidence kind lets datasheets and images become first-class sources without weakening the rule.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GitHub Public Repository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Demo Video Link (3 Minutes)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oogle Sans"/>
              <a:buAutoNum type="arabicPeriod"/>
            </a:pP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Working Prototype Link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75488" y="2359152"/>
            <a:ext cx="8193024" cy="69494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40080" y="244144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 i="0">
                <a:solidFill>
                  <a:srgbClr val="00386F"/>
                </a:solidFill>
                <a:latin typeface="Calibri"/>
              </a:rPr>
              <a:t>Working prototype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 i="0">
                <a:solidFill>
                  <a:srgbClr val="0B5FA5"/>
                </a:solidFill>
                <a:latin typeface="Calibri"/>
              </a:rPr>
              <a:t>https://huggingface.co/spaces/jacklachan/unihack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Opens already enriched. No login, no key, no setup.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75488" y="3145536"/>
            <a:ext cx="8193024" cy="69494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40080" y="3227832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 i="0">
                <a:solidFill>
                  <a:srgbClr val="00386F"/>
                </a:solidFill>
                <a:latin typeface="Calibri"/>
              </a:rPr>
              <a:t>GitHub repository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 i="0">
                <a:solidFill>
                  <a:srgbClr val="0B5FA5"/>
                </a:solidFill>
                <a:latin typeface="Calibri"/>
              </a:rPr>
              <a:t>https://github.com/jacklachan/unihack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Standard library only, 42 invariant tests, clone and run.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75488" y="3931920"/>
            <a:ext cx="8193024" cy="69494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40080" y="4014215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 i="0">
                <a:solidFill>
                  <a:srgbClr val="00386F"/>
                </a:solidFill>
                <a:latin typeface="Calibri"/>
              </a:rPr>
              <a:t>Demo video (3 minutes)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 i="0">
                <a:solidFill>
                  <a:srgbClr val="B03021"/>
                </a:solidFill>
                <a:latin typeface="Calibri"/>
              </a:rPr>
              <a:t>&lt;&lt;&lt; PASTE YOUR VIDEO LINK &gt;&gt;&gt;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Set sharing to anyone-with-the-link and check it in a private window.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